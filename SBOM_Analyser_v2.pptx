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0" r:id="rId4"/>
    <p:sldId id="261" r:id="rId5"/>
    <p:sldId id="262" r:id="rId6"/>
    <p:sldId id="263" r:id="rId7"/>
    <p:sldId id="282" r:id="rId28"/>
    <p:sldId id="265" r:id="rId8"/>
    <p:sldId id="266" r:id="rId9"/>
    <p:sldId id="267" r:id="rId10"/>
    <p:sldId id="268" r:id="rId11"/>
    <p:sldId id="269" r:id="rId12"/>
    <p:sldId id="283" r:id="rId29"/>
    <p:sldId id="271" r:id="rId13"/>
    <p:sldId id="272" r:id="rId14"/>
    <p:sldId id="273" r:id="rId15"/>
    <p:sldId id="274" r:id="rId16"/>
    <p:sldId id="275" r:id="rId17"/>
    <p:sldId id="284" r:id="rId30"/>
    <p:sldId id="285" r:id="rId31"/>
    <p:sldId id="278" r:id="rId18"/>
    <p:sldId id="279" r:id="rId19"/>
    <p:sldId id="280" r:id="rId20"/>
    <p:sldId id="28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oze Basha S" userId="S::ferozebasha.s@hcltech.com::6a890546-8a78-45d1-9f97-ab3c014d0d10" providerId="AD" clId="Web-{FD725FB3-A79C-7012-7A3D-CCDB319F406E}"/>
    <pc:docChg chg="mod modMainMaster">
      <pc:chgData name="Feroze Basha S" userId="S::ferozebasha.s@hcltech.com::6a890546-8a78-45d1-9f97-ab3c014d0d10" providerId="AD" clId="Web-{FD725FB3-A79C-7012-7A3D-CCDB319F406E}" dt="2026-05-14T10:07:31.269" v="1" actId="33475"/>
      <pc:docMkLst>
        <pc:docMk/>
      </pc:docMkLst>
      <pc:sldMasterChg chg="addSp">
        <pc:chgData name="Feroze Basha S" userId="S::ferozebasha.s@hcltech.com::6a890546-8a78-45d1-9f97-ab3c014d0d10" providerId="AD" clId="Web-{FD725FB3-A79C-7012-7A3D-CCDB319F406E}" dt="2026-05-14T10:07:31.253" v="0" actId="33475"/>
        <pc:sldMasterMkLst>
          <pc:docMk/>
          <pc:sldMasterMk cId="0" sldId="2147483648"/>
        </pc:sldMasterMkLst>
        <pc:spChg chg="add">
          <ac:chgData name="Feroze Basha S" userId="S::ferozebasha.s@hcltech.com::6a890546-8a78-45d1-9f97-ab3c014d0d10" providerId="AD" clId="Web-{FD725FB3-A79C-7012-7A3D-CCDB319F406E}" dt="2026-05-14T10:07:31.253" v="0" actId="33475"/>
          <ac:spMkLst>
            <pc:docMk/>
            <pc:sldMasterMk cId="0" sldId="2147483648"/>
            <ac:spMk id="3" creationId="{5DFE629B-0E6E-FBE5-A6E2-52F3E0A84AD5}"/>
          </ac:spMkLst>
        </pc:spChg>
      </pc:sldMaster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1E610-86D7-47C3-8845-638A077F8FBB}" type="datetimeFigureOut">
              <a:t>5/18/2026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74859-5B07-4E57-AE7F-6DD08A60B64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1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?>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5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6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71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?>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?>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85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8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88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89.xml.rels><?xml version="1.0" encoding="UTF-8"?>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0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9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9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?>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1.xml"/></Relationships>
</file>

<file path=ppt/slideLayouts/_rels/slideLayout201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2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03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4.xml.rels><?xml version="1.0" encoding="UTF-8"?>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9.emf"/></Relationships>
</file>

<file path=ppt/slideLayouts/_rels/slideLayout20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HCLTech | Supercharged Progress" descr="HCLTech | Supercharged Progress">
            <a:extLst>
              <a:ext uri="{FF2B5EF4-FFF2-40B4-BE49-F238E27FC236}">
                <a16:creationId xmlns:a16="http://schemas.microsoft.com/office/drawing/2014/main" id="{6D944A14-5E2B-02AE-1A6E-B9FF42579F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0" y="1872000"/>
            <a:ext cx="4798725" cy="1883593"/>
          </a:xfrm>
        </p:spPr>
        <p:txBody>
          <a:bodyPr anchor="b"/>
          <a:lstStyle>
            <a:lvl1pPr algn="l"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0" y="3601465"/>
            <a:ext cx="4773525" cy="732848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 xml:space="preserve"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0"/>
            <a:ext cx="4799012" cy="276999"/>
          </a:xfrm>
        </p:spPr>
        <p:txBody>
          <a:bodyPr anchor="b">
            <a:spAutoFit/>
          </a:bodyPr>
          <a:lstStyle>
            <a:lvl1pPr>
              <a:defRPr sz="1800" b="0"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2994689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612872AB-F31E-FADB-DAAA-FE57B2F11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0"/>
            <a:ext cx="2956538" cy="276999"/>
          </a:xfrm>
        </p:spPr>
        <p:txBody>
          <a:bodyPr wrap="square" anchor="b">
            <a:sp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0"/>
            <a:ext cx="2992022" cy="706347"/>
          </a:xfrm>
        </p:spPr>
        <p:txBody>
          <a:bodyPr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0192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87C0D87E-32CD-38CB-CA1D-B53428ADC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8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8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27977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 Logo">
            <a:extLst>
              <a:ext uri="{FF2B5EF4-FFF2-40B4-BE49-F238E27FC236}">
                <a16:creationId xmlns:a16="http://schemas.microsoft.com/office/drawing/2014/main" id="{A99E6F05-9C63-8E9F-382F-81110353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1492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HCLTech Logo">
            <a:extLst>
              <a:ext uri="{FF2B5EF4-FFF2-40B4-BE49-F238E27FC236}">
                <a16:creationId xmlns:a16="http://schemas.microsoft.com/office/drawing/2014/main" id="{69E4AD3F-55DF-0470-DFB3-DD4278A57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0867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  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0"/>
            <a:ext cx="7312744" cy="627864"/>
          </a:xfrm>
        </p:spPr>
        <p:txBody>
          <a:bodyPr anchor="t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39" y="4450492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7768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81" r="74993"/>
          <a:stretch>
            <a:fillRect/>
          </a:stretch>
        </p:blipFill>
        <p:spPr>
          <a:xfrm flipH="1">
            <a:off x="9144183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5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2" y="4204800"/>
            <a:ext cx="480391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2" y="5307012"/>
            <a:ext cx="4782257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2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3025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79968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162558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80000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2596435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4165237-FAA8-F9B2-BBA6-4705E0623F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49808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198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59219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D48A543-7C3E-DBB9-172E-515CCD23324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40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4C1A001-470F-CA1A-C246-C3F13F1668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199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7692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6F0D03D-6386-9282-B41E-AC5DCC2FA5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0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0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0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0557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4704D04-FB56-1BAC-4DCE-E09FC11BBF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35891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588D426-59F4-730A-A7F0-1FFB9B43D7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359417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B9EB3F12-5042-1CE1-3A6A-44FC37E7EE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550604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865A9C0-9168-D356-C695-9E89D21C8A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223402E-6329-10D1-2E9A-1DE5BAA832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246517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26E3893-7DEE-F44F-D42D-1F15E03921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46018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4601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2A59566-7027-D1BE-E027-E64B5CB4A6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974096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77180B-F8A0-72A9-11C9-97D1C54598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489332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Footer (Fixed)">
            <a:extLst>
              <a:ext uri="{FF2B5EF4-FFF2-40B4-BE49-F238E27FC236}">
                <a16:creationId xmlns:a16="http://schemas.microsoft.com/office/drawing/2014/main" id="{AB759DE5-494F-7AD6-A846-EB481BC67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ECB425C-D4B2-63DD-0573-FF85C1635D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423687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A8A57C8-8D78-6E98-6BBB-B5517A0961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879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785600"/>
            <a:ext cx="73441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D82871E-69F9-659C-9AF1-77E836ED92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757157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AEC5BD2D-0B81-13F3-9370-EA56D210CD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DBAE76D-AAB8-9B62-71E1-CB9A76355B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4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73440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09CFECC-E720-EE40-1BF3-3008340293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122043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FD13A2-781F-9A45-8805-0B1D1A8DBE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310026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0DD05761-9703-7A85-5615-F943D2EA9B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0F3E8C-F35C-60D3-8FD3-FFC93B7A7F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84382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Light)">
    <p:bg>
      <p:bgPr>
        <a:gradFill flip="none" rotWithShape="1"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B41A1F1-F831-58B7-3F70-8B4D18F954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225553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64E709-AB7F-8D26-F1AF-68D32226E1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tx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510015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C307E86-55FE-4273-A738-93458D7DE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30314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Intense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6E44979-7EBD-E6AB-8DA8-23FFBD0673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526829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194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5D58449-FB77-076B-14D0-9B7FD32F81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46066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80384C08-D104-9EF4-8CDA-B5864743E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solidFill>
            <a:srgbClr val="E6EBF5">
              <a:alpha val="70000"/>
            </a:srgbClr>
          </a:soli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600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79BBD15-3527-FC42-AC3B-D846208577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22988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B2EB901-F852-EBD2-E9EA-5E32E4AFF3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525738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de fixed footer">
            <a:extLst>
              <a:ext uri="{FF2B5EF4-FFF2-40B4-BE49-F238E27FC236}">
                <a16:creationId xmlns:a16="http://schemas.microsoft.com/office/drawing/2014/main" id="{91C89C5B-6563-51CD-6D57-32ACF95D0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solidFill>
            <a:srgbClr val="E6EBF5">
              <a:alpha val="70000"/>
            </a:srgbClr>
          </a:soli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944B0F0-F0D5-2C5F-7EDD-0CE3EF03A1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3074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A98402-B0BD-C6C2-FE54-2F2899BE22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86279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Inten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0F98D78-4E25-3547-6C24-51BDDD183F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83062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– Numbered, 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D4F86B9-D2A7-7FBC-6D91-38E2985A6E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78298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817432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Sidebar">
            <a:extLst>
              <a:ext uri="{FF2B5EF4-FFF2-40B4-BE49-F238E27FC236}">
                <a16:creationId xmlns:a16="http://schemas.microsoft.com/office/drawing/2014/main" id="{0FEB8418-763A-62C2-B508-41FB3F6D5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925" y="449264"/>
            <a:ext cx="2509837" cy="5510212"/>
          </a:xfrm>
          <a:prstGeom prst="roundRect">
            <a:avLst>
              <a:gd name="adj" fmla="val 2473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324000" tIns="486000" rIns="324000" bIns="486000" anchor="ctr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8322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t Subtitle – 1/2 Gradient (Dark)">
    <p:bg>
      <p:bgPr>
        <a:gradFill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275388" cy="68580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504089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5897D4B-4A0A-46C1-7F5D-17A0CB146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50" y="449263"/>
            <a:ext cx="4659313" cy="171841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2EEA791-C611-0DB1-A116-513C64C831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91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53F927-B967-30E7-7132-7CC9B7270C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3314588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DF4DAA-CDFF-0783-528E-124F1138E9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05205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525F31A-BC62-2586-201E-A8EB35FCFA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3" name="HCLTech Logo">
            <a:extLst>
              <a:ext uri="{FF2B5EF4-FFF2-40B4-BE49-F238E27FC236}">
                <a16:creationId xmlns:a16="http://schemas.microsoft.com/office/drawing/2014/main" id="{D9EEFA21-9416-9930-6CEA-B8D7967C9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1219787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FA8220-8D13-C5F2-0050-5346F84C2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4" name="Second level heading">
            <a:extLst>
              <a:ext uri="{FF2B5EF4-FFF2-40B4-BE49-F238E27FC236}">
                <a16:creationId xmlns:a16="http://schemas.microsoft.com/office/drawing/2014/main" id="{5A69D30A-83BB-AE5D-9A23-D47381752B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611EE7-4017-8920-B507-53F6BCCBF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3827422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56BD88E-F697-2C7A-016F-8D384DDDF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Second level heading">
            <a:extLst>
              <a:ext uri="{FF2B5EF4-FFF2-40B4-BE49-F238E27FC236}">
                <a16:creationId xmlns:a16="http://schemas.microsoft.com/office/drawing/2014/main" id="{30F81A93-D446-AE66-631F-D2846490D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877F586-F18A-B879-0C51-ACB723934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DBF6B2F1-7634-1AE2-503E-75B8108453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576889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(Intense)">
            <a:extLst>
              <a:ext uri="{FF2B5EF4-FFF2-40B4-BE49-F238E27FC236}">
                <a16:creationId xmlns:a16="http://schemas.microsoft.com/office/drawing/2014/main" id="{4489421E-12D0-C705-1D63-2FC60FE2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7D7D7194-22D2-D315-D598-E3693CA1CC63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4D57F02-0CA7-6C32-D586-7B8CB822B9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0" name="Second level heading">
            <a:extLst>
              <a:ext uri="{FF2B5EF4-FFF2-40B4-BE49-F238E27FC236}">
                <a16:creationId xmlns:a16="http://schemas.microsoft.com/office/drawing/2014/main" id="{114772CD-99EC-F421-6F8C-D697E102D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A83F534C-A78E-DC0C-7DC2-414DE0274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3673127C-F8C7-589A-502D-4027E01C7D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31102" y="180700"/>
            <a:ext cx="4481498" cy="6080400"/>
          </a:xfrm>
          <a:prstGeom prst="roundRect">
            <a:avLst>
              <a:gd name="adj" fmla="val 114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36764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556C5-0DDA-42AF-162A-7739EA0BDC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4" y="180000"/>
            <a:ext cx="5265126" cy="6080400"/>
          </a:xfrm>
          <a:prstGeom prst="roundRect">
            <a:avLst>
              <a:gd name="adj" fmla="val 108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7962" y="180000"/>
            <a:ext cx="6725237" cy="6081100"/>
          </a:xfrm>
          <a:prstGeom prst="roundRect">
            <a:avLst>
              <a:gd name="adj" fmla="val 931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58000" tIns="1735200" rIns="666000" bIns="676800">
            <a:noAutofit/>
          </a:bodyPr>
          <a:lstStyle>
            <a:lvl1pPr>
              <a:lnSpc>
                <a:spcPct val="80000"/>
              </a:lnSpc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0932" y="3549600"/>
            <a:ext cx="5402544" cy="914605"/>
          </a:xfrm>
        </p:spPr>
        <p:txBody>
          <a:bodyPr wrap="square" tIns="540000">
            <a:spAutoFit/>
          </a:bodyPr>
          <a:lstStyle>
            <a:lvl1pPr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11813086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2 Im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CCA5826-8CD0-A1D1-FE72-5E3789BF14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1262" y="597600"/>
            <a:ext cx="6573137" cy="5662800"/>
          </a:xfrm>
          <a:prstGeom prst="roundRect">
            <a:avLst>
              <a:gd name="adj" fmla="val 1017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0" name="Second level heading">
            <a:extLst>
              <a:ext uri="{FF2B5EF4-FFF2-40B4-BE49-F238E27FC236}">
                <a16:creationId xmlns:a16="http://schemas.microsoft.com/office/drawing/2014/main" id="{A1648025-EC02-6E5C-59E7-38887DB4D5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8258A80F-2CC0-46DD-5B40-5BE3184A6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 xml:space="preserve">minimum 44 pt maximum 3 lines 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9F7C2706-9025-DE40-E5CE-141B2F320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3789701" cy="1283937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3508164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A63FDA6B-EFFA-808E-4D43-18D22930E1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0000" y="3283200"/>
            <a:ext cx="11833200" cy="37080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4522E4-DB94-7522-0711-B076A060F2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67180"/>
            <a:ext cx="5051025" cy="1726627"/>
          </a:xfrm>
        </p:spPr>
        <p:txBody>
          <a:bodyPr/>
          <a:lstStyle>
            <a:lvl1pPr>
              <a:defRPr sz="44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9" y="896192"/>
            <a:ext cx="5019674" cy="1548268"/>
          </a:xfrm>
        </p:spPr>
        <p:txBody>
          <a:bodyPr wrap="square" tIns="0">
            <a:no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215309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Title, Subtitl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F596886-3570-36FB-F687-03B773C44E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11" name="Second level heading">
            <a:extLst>
              <a:ext uri="{FF2B5EF4-FFF2-40B4-BE49-F238E27FC236}">
                <a16:creationId xmlns:a16="http://schemas.microsoft.com/office/drawing/2014/main" id="{4ABD8F3F-42FD-6C59-7AF2-300FEFB368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4838" y="1342800"/>
            <a:ext cx="6540500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8A876DB-45EB-6499-6240-AAFFCFDF9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6992" y="1918800"/>
            <a:ext cx="8469058" cy="1184876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>minimum 44 pt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7540E803-F5B2-F968-E9E7-9F50EF7510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8983" y="3535200"/>
            <a:ext cx="7553305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1241933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Numbered, Intro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B70E3692-6897-6431-632F-688153E60E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28601" y="2066988"/>
            <a:ext cx="5249863" cy="5067738"/>
          </a:xfrm>
          <a:prstGeom prst="roundRect">
            <a:avLst>
              <a:gd name="adj" fmla="val 117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166C80D-AB24-C08E-0E10-32E0FB5DC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FA3131-5198-AAFB-33F5-639BAB8DCE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B88B378A-2437-83E4-1ECD-E9C8B6753577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671263" y="625671"/>
            <a:ext cx="1350000" cy="1350000"/>
          </a:xfrm>
          <a:prstGeom prst="roundRect">
            <a:avLst>
              <a:gd name="adj" fmla="val 4200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1C013F-5B67-A452-AC46-26583D14C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2098" y="2331321"/>
            <a:ext cx="5420107" cy="125572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7BF6D28-D8E6-7329-751E-38832AA523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8925" y="3429000"/>
            <a:ext cx="5394550" cy="2530475"/>
          </a:xfrm>
        </p:spPr>
        <p:txBody>
          <a:bodyPr t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28530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Image top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7518D3B-536B-6FAE-F410-FA15B442AA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2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719878"/>
            <a:ext cx="10933113" cy="2541221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540000" rIns="453600" bIns="540000" numCol="2" spcCol="360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29844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One key point – Two images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ECB044-3DCF-4DB3-2452-3F70E68D513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024660-8A12-3990-098B-5699B6BC2D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5387" y="449262"/>
            <a:ext cx="3136901" cy="2908233"/>
          </a:xfrm>
          <a:prstGeom prst="roundRect">
            <a:avLst>
              <a:gd name="adj" fmla="val 200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2196722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AEDD206-546B-3BD1-2F7F-3F78AD999C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2895"/>
            <a:ext cx="72900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2797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5D26609-E2B2-04B5-150D-BDADA54808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286263"/>
            <a:ext cx="3452503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89CCBA-8F79-81E3-144D-DC51F3F4E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69" y="3286263"/>
            <a:ext cx="3452400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6483497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28BD2ED7-68C5-9E63-FE9D-CD698D14399A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14482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06C939E-0D7A-5773-E2A8-CB075DDF4A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5323447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5452" y="446036"/>
            <a:ext cx="5306311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5AD3D23-E9B8-CBC9-204E-B9EA9F08E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2539475"/>
            <a:ext cx="5377126" cy="3420000"/>
          </a:xfrm>
          <a:prstGeom prst="roundRect">
            <a:avLst>
              <a:gd name="adj" fmla="val 173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64000" tIns="288000" rIns="36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F5F77A4-5EFA-DD64-1BCD-ACC04B532D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881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261482-22C2-A5CA-9A5C-D14BBEB8EF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656" y="2539475"/>
            <a:ext cx="5378400" cy="3420000"/>
          </a:xfrm>
          <a:prstGeom prst="roundRect">
            <a:avLst>
              <a:gd name="adj" fmla="val 1739"/>
            </a:avLst>
          </a:prstGeom>
          <a:solidFill>
            <a:srgbClr val="E6EBF5">
              <a:alpha val="70000"/>
            </a:srgbClr>
          </a:solidFill>
        </p:spPr>
        <p:txBody>
          <a:bodyPr lIns="864000" tIns="288000" rIns="360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E1B85584-A18E-EA6C-369B-32FCBB78C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2887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278013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 side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4F1EBBF-F2AE-1A55-176D-C235CF24F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79D8B6-5C12-93D6-07DF-DD3981F0B1D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201792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19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475" y="3355200"/>
            <a:ext cx="3408363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2612" y="3355200"/>
            <a:ext cx="3409200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idebar 1">
            <a:extLst>
              <a:ext uri="{FF2B5EF4-FFF2-40B4-BE49-F238E27FC236}">
                <a16:creationId xmlns:a16="http://schemas.microsoft.com/office/drawing/2014/main" id="{0EB14533-F55E-8DE4-AD69-5186DD0521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4" y="1708150"/>
            <a:ext cx="3136899" cy="2035663"/>
          </a:xfrm>
          <a:prstGeom prst="roundRect">
            <a:avLst>
              <a:gd name="adj" fmla="val 290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1">
            <a:extLst>
              <a:ext uri="{FF2B5EF4-FFF2-40B4-BE49-F238E27FC236}">
                <a16:creationId xmlns:a16="http://schemas.microsoft.com/office/drawing/2014/main" id="{BE8B96F9-A930-EFC9-A1A4-EF2F2FD8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67886" y="2130549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Sidebar 2">
            <a:extLst>
              <a:ext uri="{FF2B5EF4-FFF2-40B4-BE49-F238E27FC236}">
                <a16:creationId xmlns:a16="http://schemas.microsoft.com/office/drawing/2014/main" id="{B15C4A90-D288-4115-3637-7F610EE20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24864" y="3921875"/>
            <a:ext cx="3136899" cy="2037600"/>
          </a:xfrm>
          <a:prstGeom prst="roundRect">
            <a:avLst>
              <a:gd name="adj" fmla="val 2906"/>
            </a:avLst>
          </a:prstGeom>
          <a:solidFill>
            <a:srgbClr val="E6EBF5"/>
          </a:soli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accent3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2">
            <a:extLst>
              <a:ext uri="{FF2B5EF4-FFF2-40B4-BE49-F238E27FC236}">
                <a16:creationId xmlns:a16="http://schemas.microsoft.com/office/drawing/2014/main" id="{67055E2E-974E-FDE1-005C-F3F38F2B35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7886" y="4343477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908457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C51C70A-3983-65A7-9A4D-47A729E6DF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3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3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86575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(centere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Intense)">
            <a:extLst>
              <a:ext uri="{FF2B5EF4-FFF2-40B4-BE49-F238E27FC236}">
                <a16:creationId xmlns:a16="http://schemas.microsoft.com/office/drawing/2014/main" id="{C462AD7A-E5D1-42B7-286A-A7C98DC7FA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7801" y="180000"/>
            <a:ext cx="4034200" cy="6081100"/>
          </a:xfrm>
          <a:prstGeom prst="roundRect">
            <a:avLst>
              <a:gd name="adj" fmla="val 150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195ECB2-3648-3199-C040-0E09A7BD3F1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1479600"/>
            <a:ext cx="4160863" cy="20928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maximum four 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3430800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0" y="180700"/>
            <a:ext cx="2322489" cy="6080400"/>
          </a:xfrm>
          <a:prstGeom prst="roundRect">
            <a:avLst>
              <a:gd name="adj" fmla="val 23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3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599" y="84056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6131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599" y="272968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450311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599" y="461880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4528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Boxes,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E7C0D3-B676-4735-B63D-4AF28276E1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3960000"/>
          </a:xfrm>
          <a:solidFill>
            <a:schemeClr val="bg1"/>
          </a:solidFill>
        </p:spPr>
        <p:txBody>
          <a:bodyPr lIns="860400" tIns="874800" rIns="403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 xml:space="preserve">Master title style </a:t>
            </a:r>
            <a:br>
              <a:rPr lang="en-US"/>
            </a:br>
            <a:r>
              <a:rPr lang="en-US"/>
              <a:t>maximum three lines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4000"/>
            <a:ext cx="728177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58FF86DF-C6F0-87E8-CFC2-46ACE009B7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936" y="4483099"/>
            <a:ext cx="2300400" cy="1476375"/>
          </a:xfrm>
          <a:prstGeom prst="roundRect">
            <a:avLst>
              <a:gd name="adj" fmla="val 4151"/>
            </a:avLst>
          </a:prstGeom>
          <a:solidFill>
            <a:schemeClr val="tx2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Key point 2">
            <a:extLst>
              <a:ext uri="{FF2B5EF4-FFF2-40B4-BE49-F238E27FC236}">
                <a16:creationId xmlns:a16="http://schemas.microsoft.com/office/drawing/2014/main" id="{865E130E-F065-35F3-925A-005C8E9639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6555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3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Key point 3">
            <a:extLst>
              <a:ext uri="{FF2B5EF4-FFF2-40B4-BE49-F238E27FC236}">
                <a16:creationId xmlns:a16="http://schemas.microsoft.com/office/drawing/2014/main" id="{FAC17A63-55B4-67FB-B98A-97528010EB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6174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4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FDBAE8F-4DEB-2283-F42F-80376F546B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449262"/>
            <a:ext cx="3587192" cy="5510213"/>
          </a:xfrm>
          <a:prstGeom prst="roundRect">
            <a:avLst>
              <a:gd name="adj" fmla="val 171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688222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398B5E7-3CEA-BCB4-7185-6601D442C6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69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9116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2563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572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595042-BB16-4057-3B23-20DC2E0D680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40644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3202" y="2390400"/>
            <a:ext cx="40644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88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602" y="2390400"/>
            <a:ext cx="40644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232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076247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0EB2D21-E4C7-7A3D-60F2-131E63294B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0641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DA04A2-C1E3-397C-2844-8B848D60B0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6923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6EF6423-4453-7395-BEDF-1F3C7DB2F4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9" y="2915999"/>
            <a:ext cx="3520575" cy="3043475"/>
          </a:xfrm>
          <a:prstGeom prst="roundRect">
            <a:avLst>
              <a:gd name="adj" fmla="val 177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87" y="2915999"/>
            <a:ext cx="3520800" cy="3043475"/>
          </a:xfrm>
          <a:prstGeom prst="roundRect">
            <a:avLst>
              <a:gd name="adj" fmla="val 175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000" y="2915999"/>
            <a:ext cx="3520800" cy="3043475"/>
          </a:xfrm>
          <a:prstGeom prst="roundRect">
            <a:avLst>
              <a:gd name="adj" fmla="val 1850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330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A0AB58-8A57-21FA-2812-30F47511C4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3520800" cy="3569075"/>
          </a:xfrm>
          <a:prstGeom prst="roundRect">
            <a:avLst>
              <a:gd name="adj" fmla="val 1678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4399" y="2390399"/>
            <a:ext cx="3520800" cy="3569075"/>
          </a:xfrm>
          <a:prstGeom prst="roundRect">
            <a:avLst>
              <a:gd name="adj" fmla="val 1707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800" y="2390399"/>
            <a:ext cx="3520800" cy="3569075"/>
          </a:xfrm>
          <a:prstGeom prst="roundRect">
            <a:avLst>
              <a:gd name="adj" fmla="val 1547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456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CCA79BC-9EDF-C3DE-0834-F26D0BE0F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3520800" cy="1620000"/>
          </a:xfrm>
          <a:prstGeom prst="roundRect">
            <a:avLst>
              <a:gd name="adj" fmla="val 3849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4400" y="2390400"/>
            <a:ext cx="3520800" cy="1620000"/>
          </a:xfrm>
          <a:prstGeom prst="roundRect">
            <a:avLst>
              <a:gd name="adj" fmla="val 3733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44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8800" y="2390400"/>
            <a:ext cx="3520800" cy="1620000"/>
          </a:xfrm>
          <a:prstGeom prst="roundRect">
            <a:avLst>
              <a:gd name="adj" fmla="val 3731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88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8650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2179B20-D083-17B1-4246-AE61CC251C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396000" rIns="453600" bIns="396000" numCol="4" spcCol="468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86407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8A4EFD-DA17-1A3C-A9E0-9143FCE526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4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847706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List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18A7DFA7-8DF4-59DD-D2E5-1FD3EDD7DBA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7349513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024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4129199"/>
            <a:ext cx="6017026" cy="14127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Key point 1">
            <a:extLst>
              <a:ext uri="{FF2B5EF4-FFF2-40B4-BE49-F238E27FC236}">
                <a16:creationId xmlns:a16="http://schemas.microsoft.com/office/drawing/2014/main" id="{4AF325BB-6A06-8B6C-41D3-725631E830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1235" y="842789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Key point 2">
            <a:extLst>
              <a:ext uri="{FF2B5EF4-FFF2-40B4-BE49-F238E27FC236}">
                <a16:creationId xmlns:a16="http://schemas.microsoft.com/office/drawing/2014/main" id="{FE4E867D-D095-D132-51B4-28CB4B60C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1235" y="2211801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Key point 3">
            <a:extLst>
              <a:ext uri="{FF2B5EF4-FFF2-40B4-BE49-F238E27FC236}">
                <a16:creationId xmlns:a16="http://schemas.microsoft.com/office/drawing/2014/main" id="{48BF3A9F-762A-D46C-1AA4-05834E1554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41235" y="3580813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Key point 4">
            <a:extLst>
              <a:ext uri="{FF2B5EF4-FFF2-40B4-BE49-F238E27FC236}">
                <a16:creationId xmlns:a16="http://schemas.microsoft.com/office/drawing/2014/main" id="{8D004097-2768-0406-1360-FA04741006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1235" y="4949825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278779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Four key points – Numbered, Image (centered)">
    <p:bg>
      <p:bgPr>
        <a:gradFill flip="none" rotWithShape="1"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19887A3D-4739-87AC-9336-4B7EC003B1BD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BC0D3CF-344E-A83E-BFD3-18D50AD97D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EBAA9296-1064-E894-A029-9C71089F1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52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4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14891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2266855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357778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695943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2800" y="500767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5125032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364714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4C65F2-755F-5EFE-423B-EE53E9F1368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21413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31E415C-DD01-7ACB-5199-12D356B3E69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9534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3397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97260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232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0C540A-804C-64A8-67FD-DEC29645BF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30492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7600" y="2390400"/>
            <a:ext cx="30492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432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00" y="2390400"/>
            <a:ext cx="30492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8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944E90D-2D43-5A85-13A4-2696B7965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2800" y="2390400"/>
            <a:ext cx="3049200" cy="3870700"/>
          </a:xfrm>
          <a:solidFill>
            <a:schemeClr val="accent6"/>
          </a:solidFill>
        </p:spPr>
        <p:txBody>
          <a:bodyPr lIns="612000" tIns="432000" rIns="540000" b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F3839239-21A8-2B93-7AC7-2FD367B4D3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84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7924238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953F643-130F-B2FF-BB37-63F1197A829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26534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FC4B7A-ECB5-CAA1-D75B-4A8C7BD155B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83236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2A8142-5970-1E56-3B2E-AFB6F18150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916000"/>
            <a:ext cx="2599200" cy="3042000"/>
          </a:xfrm>
          <a:prstGeom prst="roundRect">
            <a:avLst>
              <a:gd name="adj" fmla="val 236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916000"/>
            <a:ext cx="2599200" cy="3042000"/>
          </a:xfrm>
          <a:prstGeom prst="roundRect">
            <a:avLst>
              <a:gd name="adj" fmla="val 234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916000"/>
            <a:ext cx="2599200" cy="3042000"/>
          </a:xfrm>
          <a:prstGeom prst="roundRect">
            <a:avLst>
              <a:gd name="adj" fmla="val 2143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2916000"/>
            <a:ext cx="2599200" cy="3042000"/>
          </a:xfrm>
          <a:prstGeom prst="roundRect">
            <a:avLst>
              <a:gd name="adj" fmla="val 2302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068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9E9074E-C6D1-1509-7C6C-130C3423FE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E3F6FC60-8A9A-CD8D-54D5-DF1FC0AD8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8873"/>
            <a:ext cx="2599200" cy="2730602"/>
          </a:xfrm>
          <a:prstGeom prst="roundRect">
            <a:avLst>
              <a:gd name="adj" fmla="val 228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7F9F1C0C-2DC5-9324-2488-522864FD37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6476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3228873"/>
            <a:ext cx="2599200" cy="2730602"/>
          </a:xfrm>
          <a:prstGeom prst="roundRect">
            <a:avLst>
              <a:gd name="adj" fmla="val 226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41D1EA93-B86F-44E2-AED5-BA060A27BC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2954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3228873"/>
            <a:ext cx="2599200" cy="2730602"/>
          </a:xfrm>
          <a:prstGeom prst="roundRect">
            <a:avLst>
              <a:gd name="adj" fmla="val 2290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4">
            <a:extLst>
              <a:ext uri="{FF2B5EF4-FFF2-40B4-BE49-F238E27FC236}">
                <a16:creationId xmlns:a16="http://schemas.microsoft.com/office/drawing/2014/main" id="{589761E2-8F92-7D0C-5AD8-AEADD713F6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9431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3228873"/>
            <a:ext cx="2599200" cy="2730602"/>
          </a:xfrm>
          <a:prstGeom prst="roundRect">
            <a:avLst>
              <a:gd name="adj" fmla="val 2229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957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D0DB67-EB9C-0FBC-7BD8-3500F16CC0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063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02330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ive key points – Numbered, Image (centered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1974202C-4273-AB66-4FCC-4AB002979426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A909933-AFE2-6FCF-DC66-19716EE17D7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3830" y="72624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3830" y="1816711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193699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3830" y="291886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03622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3830" y="40180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413545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Number 5">
            <a:extLst>
              <a:ext uri="{FF2B5EF4-FFF2-40B4-BE49-F238E27FC236}">
                <a16:creationId xmlns:a16="http://schemas.microsoft.com/office/drawing/2014/main" id="{E3D6A0CE-41FA-05AB-A3F4-42B73AF503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3830" y="5117323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Key point 5">
            <a:extLst>
              <a:ext uri="{FF2B5EF4-FFF2-40B4-BE49-F238E27FC236}">
                <a16:creationId xmlns:a16="http://schemas.microsoft.com/office/drawing/2014/main" id="{080CCD7F-6F1B-C4CC-C090-1F408186A6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39673" y="5234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783423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08CF4E9-8B51-95C6-3CE1-36DBD530DC7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1901629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50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60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21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33778E-7104-AE04-0B97-2FA566FD84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60701" y="3243841"/>
            <a:ext cx="1900800" cy="271551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192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E2AECE2-FE14-9D39-06F2-DBA0D5B6D1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041200" cy="1620000"/>
          </a:xfrm>
          <a:prstGeom prst="roundRect">
            <a:avLst>
              <a:gd name="adj" fmla="val 3261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1974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1974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298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75298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8622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8622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Numbered Subhead 5">
            <a:extLst>
              <a:ext uri="{FF2B5EF4-FFF2-40B4-BE49-F238E27FC236}">
                <a16:creationId xmlns:a16="http://schemas.microsoft.com/office/drawing/2014/main" id="{39B5D340-87A0-62AB-57C3-357708CBC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1947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rgbClr val="C8D2DD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 sz="2000" b="1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3BBE58E-9455-B869-C743-8DA21FAC28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1947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3903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y Rectangle">
            <a:extLst>
              <a:ext uri="{FF2B5EF4-FFF2-40B4-BE49-F238E27FC236}">
                <a16:creationId xmlns:a16="http://schemas.microsoft.com/office/drawing/2014/main" id="{8F6BA10D-D7B5-FB4F-C58E-020D6E75C52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F5CE211-6B27-95E6-24AE-89AE0E197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B27AA74-5310-2099-2998-D7C1E7C603E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718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249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87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18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249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293912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208C2F-BBE9-6A3D-5ED4-75B0CE24BE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Number 5">
            <a:extLst>
              <a:ext uri="{FF2B5EF4-FFF2-40B4-BE49-F238E27FC236}">
                <a16:creationId xmlns:a16="http://schemas.microsoft.com/office/drawing/2014/main" id="{8DBC9520-88FA-A49A-E485-4D9D5F71DE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0815" y="487288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EA1E8F3-8898-B5A9-B6A7-043AE9DDCB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7624" y="4989091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2" name="Number 6">
            <a:extLst>
              <a:ext uri="{FF2B5EF4-FFF2-40B4-BE49-F238E27FC236}">
                <a16:creationId xmlns:a16="http://schemas.microsoft.com/office/drawing/2014/main" id="{270FDCC0-52D6-1F9B-CAA9-FC2BD75C44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3066" y="481939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43D8745-BE9C-E418-2479-7421525FBE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9875" y="49356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19087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points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2BE81-0318-104C-004D-4DAA64CDD0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90" y="872895"/>
            <a:ext cx="104323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FD3A066-1CAD-3B1A-D49C-5710F36CFC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DC7F085-A967-CA4B-31E3-2AE13D8D34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4938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52624-98E6-5298-4CF3-E7019E0BC5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275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19423EC-37DE-61D1-79B8-0D795075CE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57E0E38-CFD5-B8EE-4793-5D3A6029A1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4938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8632BE-A743-24D2-70FE-20BB4D608F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275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618152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98DDC90-94C8-E42D-5313-186720BABA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6" name="Number 1">
            <a:extLst>
              <a:ext uri="{FF2B5EF4-FFF2-40B4-BE49-F238E27FC236}">
                <a16:creationId xmlns:a16="http://schemas.microsoft.com/office/drawing/2014/main" id="{CAC5DA0E-E1FD-3906-434D-4E875AFAE6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494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80B3E18-C8AC-B78C-0C54-7F255788D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34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Number 2">
            <a:extLst>
              <a:ext uri="{FF2B5EF4-FFF2-40B4-BE49-F238E27FC236}">
                <a16:creationId xmlns:a16="http://schemas.microsoft.com/office/drawing/2014/main" id="{78676DF7-B7A2-9290-56ED-3D205F16A6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3153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50DCF2A-79FD-4C53-E350-6B112CBEE9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9790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A728E2D-0C7B-06D3-B612-19A3D76C8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7598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0C6848B-B192-628B-64EB-5395BA9A18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23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Number 4">
            <a:extLst>
              <a:ext uri="{FF2B5EF4-FFF2-40B4-BE49-F238E27FC236}">
                <a16:creationId xmlns:a16="http://schemas.microsoft.com/office/drawing/2014/main" id="{10D80541-9EC1-2BE8-42FC-81DF07290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8494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F30F2FCB-2BE4-ECC2-9FD9-EEE2AB8D8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5345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Number 5">
            <a:extLst>
              <a:ext uri="{FF2B5EF4-FFF2-40B4-BE49-F238E27FC236}">
                <a16:creationId xmlns:a16="http://schemas.microsoft.com/office/drawing/2014/main" id="{5BEA1D08-2A67-A2EF-93FE-812021FFE7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3153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3087BB18-8690-3FD9-A636-46098FF7D7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9790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6" name="Number 6">
            <a:extLst>
              <a:ext uri="{FF2B5EF4-FFF2-40B4-BE49-F238E27FC236}">
                <a16:creationId xmlns:a16="http://schemas.microsoft.com/office/drawing/2014/main" id="{1570A68C-153C-614B-C7CC-2909380F1A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87598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C8013F4-E06D-D649-4B5B-03D1FE4AD5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4236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41033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13E506D-B65B-C7C7-AEE3-014687967E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97287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3C713D-E2A6-3A9A-A95C-B1A0F0BE6FA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166FA1EC-49B9-3E68-4D06-E06BA5492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79694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Boxes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0F687-4AD7-B91A-6865-43B1A4FB8A2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872209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468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64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45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063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4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68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64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45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063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4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75951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18A965B-9CC5-88D0-C1FD-D1714D4DBB3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713" y="180000"/>
            <a:ext cx="8246150" cy="6081100"/>
          </a:xfrm>
          <a:prstGeom prst="roundRect">
            <a:avLst>
              <a:gd name="adj" fmla="val 90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730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8DD53035-7572-3C51-106F-0A6037911B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599" y="3445844"/>
            <a:ext cx="3281509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2C327BC-20B3-C2E7-825F-EAA01A6FE5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09" y="3445844"/>
            <a:ext cx="3283200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Sidebar">
            <a:extLst>
              <a:ext uri="{FF2B5EF4-FFF2-40B4-BE49-F238E27FC236}">
                <a16:creationId xmlns:a16="http://schemas.microsoft.com/office/drawing/2014/main" id="{32B24A2D-DE18-ED9C-2937-9C1B47C991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00" y="838800"/>
            <a:ext cx="2556000" cy="51149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4270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3EB2A135-4375-7CF4-1538-B246E7A200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B4EC17E-C1E8-76CF-2AA5-1503CE4B580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593736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6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226724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76106CB-3058-9B69-0320-5B1B57A373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247600" cy="6081100"/>
          </a:xfrm>
          <a:prstGeom prst="roundRect">
            <a:avLst>
              <a:gd name="adj" fmla="val 909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8DC018C5-FDD9-8909-463C-BFAC3EC4A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92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1" name="Text Placeholder 1">
            <a:extLst>
              <a:ext uri="{FF2B5EF4-FFF2-40B4-BE49-F238E27FC236}">
                <a16:creationId xmlns:a16="http://schemas.microsoft.com/office/drawing/2014/main" id="{F4BB5C1C-C188-8483-3DD6-18E91AD4D8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4BC64A9-8AF2-2B3B-F203-CECE90724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048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0F31DB5-5378-1ED4-4580-B610F18A84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40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idebar">
            <a:extLst>
              <a:ext uri="{FF2B5EF4-FFF2-40B4-BE49-F238E27FC236}">
                <a16:creationId xmlns:a16="http://schemas.microsoft.com/office/drawing/2014/main" id="{B230C377-A7BA-18A0-1EEA-7A1A156A86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4863" y="179388"/>
            <a:ext cx="3407735" cy="6081712"/>
          </a:xfrm>
          <a:prstGeom prst="roundRect">
            <a:avLst>
              <a:gd name="adj" fmla="val 176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500171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Image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2D71196C-47A5-FA66-84D3-E231ADDE5A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33E2135-AF91-6ECB-DE17-AD3DD1975EC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4" name="Number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24" y="2142268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8400" y="2253403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Number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124" y="3498623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3613725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124" y="4862911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8400" y="4974046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248333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Image">
    <p:bg>
      <p:bgPr>
        <a:gradFill>
          <a:gsLst>
            <a:gs pos="55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1105863F-9D9C-9C01-1946-5881C9D44575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9B3925-9894-7846-989D-40563E43737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2" name="HCLTech Logo">
            <a:extLst>
              <a:ext uri="{FF2B5EF4-FFF2-40B4-BE49-F238E27FC236}">
                <a16:creationId xmlns:a16="http://schemas.microsoft.com/office/drawing/2014/main" id="{F7385E84-3A33-7833-4A4C-44DF1760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4" name="Subhead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0606" y="2990021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8488" y="2999329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Subhead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606" y="4111434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8488" y="4120742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Subhead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606" y="5232847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8488" y="5242155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378620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Four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D300BA6-8056-9E15-A979-57BB714D091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91203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Six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42DF04-FE58-9C56-9842-7668218B79B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2109BAC1-5160-2FC4-469C-2F1DD2ECDE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4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150183B-64B2-FA91-C9BE-B4C16603F1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2375B2F9-6A71-9237-0E8B-4E56A9F23E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080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13E4CE76-418F-ED47-8DCA-CD31ED6A3E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70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33265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F1F6AE5-4971-68F6-3B73-5489338379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947331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91D3EF-BF7F-4E99-9FCB-E65AA7E307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0"/>
            <a:ext cx="7282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566674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66C3404-566D-8F6A-2F31-8771A09C8EE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969209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84760A-B064-288A-0B63-3E1EE3098C4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5456767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1986FF-E39F-2B5E-A7E3-9A9DDA40F8B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530392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B94359-594D-92F7-7354-1E1D90AA280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B4F11CC-BC25-A7C1-7815-3482203E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635459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39FA50-7228-DEFC-17D2-A5D158BC276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42946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700874A-7475-432A-920B-03ECCC9F186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869CE66-8681-4792-A419-A9543BFEE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89104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7A8C7EF-3064-45AD-FDF1-ADE8BAF375B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5264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CB7351-56E7-EA6F-F81D-DE1BF6E1946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3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0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0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0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0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0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3502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DEAAAFF-0880-783D-83A3-F9B2930D7DF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2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3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04168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BE3931-0817-A4AC-098D-5386105222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spcAft>
                <a:spcPts val="1200"/>
              </a:spcAft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253783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F574BC3-C864-FBFE-579E-01C15B1FD6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7" y="1413164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51668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4F38E75-D119-4146-AF79-D6E655A6AB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29" y="4435943"/>
            <a:ext cx="4444646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 xml:space="preserve">Insert heading </a:t>
            </a:r>
            <a:br>
              <a:rPr lang="en-US"/>
            </a:br>
            <a:r>
              <a:rPr lang="en-US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6" y="900113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600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6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547340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C901DF-D035-DFC0-449D-494A94EBEA3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/>
            </a:lvl2pPr>
            <a:lvl3pPr marL="0" indent="0">
              <a:buNone/>
              <a:defRPr sz="18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038526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42C3F3-6BF0-F0B2-5A4B-E843305A3FE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775161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4129200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400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847503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5" y="3641345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2D46D5-7DB5-355F-BCAA-4CBC56C48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3779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E4C01C5-EFFA-9AA4-F3D3-34F11AC3F74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8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800"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8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7078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1A1FCDB-BC27-3122-202B-1452E98C882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3355785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C8D134-F7FC-E2DC-C488-60D033F1FC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456874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1FB5C55-D016-0548-76D0-D84E8109C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3853838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3226" y="2368800"/>
            <a:ext cx="7799974" cy="3892300"/>
          </a:xfrm>
          <a:prstGeom prst="roundRect">
            <a:avLst>
              <a:gd name="adj" fmla="val 13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9061799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3), Intro,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B8F681-D53F-200B-7595-E6F0D95AF0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F21498C1-A2E9-7BA3-961D-81B381A2EF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9997" y="180000"/>
            <a:ext cx="4212615" cy="6080400"/>
          </a:xfrm>
          <a:prstGeom prst="roundRect">
            <a:avLst>
              <a:gd name="adj" fmla="val 135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33" name="Second level heading">
            <a:extLst>
              <a:ext uri="{FF2B5EF4-FFF2-40B4-BE49-F238E27FC236}">
                <a16:creationId xmlns:a16="http://schemas.microsoft.com/office/drawing/2014/main" id="{DB45CEE4-8AEB-B43A-4076-52A02CA09D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7899" y="860743"/>
            <a:ext cx="40586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153" y="1476128"/>
            <a:ext cx="4060731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457" y="3615875"/>
            <a:ext cx="4045427" cy="23400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B804B77C-885E-75B6-2B85-9878149869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78988" y="0"/>
            <a:ext cx="2512800" cy="2088000"/>
          </a:xfrm>
          <a:solidFill>
            <a:schemeClr val="accent3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2">
            <a:extLst>
              <a:ext uri="{FF2B5EF4-FFF2-40B4-BE49-F238E27FC236}">
                <a16:creationId xmlns:a16="http://schemas.microsoft.com/office/drawing/2014/main" id="{8EEDD086-6777-C122-9240-280797330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8988" y="2086200"/>
            <a:ext cx="2512800" cy="2088000"/>
          </a:xfrm>
          <a:solidFill>
            <a:schemeClr val="accent4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Data 3">
            <a:extLst>
              <a:ext uri="{FF2B5EF4-FFF2-40B4-BE49-F238E27FC236}">
                <a16:creationId xmlns:a16="http://schemas.microsoft.com/office/drawing/2014/main" id="{373F5159-639F-DB42-C571-2E54CB6FAA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78988" y="4172400"/>
            <a:ext cx="2512800" cy="2088000"/>
          </a:xfrm>
          <a:custGeom>
            <a:avLst/>
            <a:gdLst>
              <a:gd name="connsiteX0" fmla="*/ 0 w 2512800"/>
              <a:gd name="connsiteY0" fmla="*/ 0 h 2088000"/>
              <a:gd name="connsiteX1" fmla="*/ 58443 w 2512800"/>
              <a:gd name="connsiteY1" fmla="*/ 0 h 2088000"/>
              <a:gd name="connsiteX2" fmla="*/ 2454357 w 2512800"/>
              <a:gd name="connsiteY2" fmla="*/ 0 h 2088000"/>
              <a:gd name="connsiteX3" fmla="*/ 2512800 w 2512800"/>
              <a:gd name="connsiteY3" fmla="*/ 0 h 2088000"/>
              <a:gd name="connsiteX4" fmla="*/ 2512800 w 2512800"/>
              <a:gd name="connsiteY4" fmla="*/ 58443 h 2088000"/>
              <a:gd name="connsiteX5" fmla="*/ 2512800 w 2512800"/>
              <a:gd name="connsiteY5" fmla="*/ 601980 h 2088000"/>
              <a:gd name="connsiteX6" fmla="*/ 2512800 w 2512800"/>
              <a:gd name="connsiteY6" fmla="*/ 2029557 h 2088000"/>
              <a:gd name="connsiteX7" fmla="*/ 2454357 w 2512800"/>
              <a:gd name="connsiteY7" fmla="*/ 2088000 h 2088000"/>
              <a:gd name="connsiteX8" fmla="*/ 58443 w 2512800"/>
              <a:gd name="connsiteY8" fmla="*/ 2088000 h 2088000"/>
              <a:gd name="connsiteX9" fmla="*/ 0 w 2512800"/>
              <a:gd name="connsiteY9" fmla="*/ 2029557 h 2088000"/>
              <a:gd name="connsiteX10" fmla="*/ 0 w 2512800"/>
              <a:gd name="connsiteY10" fmla="*/ 601980 h 2088000"/>
              <a:gd name="connsiteX11" fmla="*/ 0 w 2512800"/>
              <a:gd name="connsiteY11" fmla="*/ 58443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12800" h="2088000">
                <a:moveTo>
                  <a:pt x="0" y="0"/>
                </a:moveTo>
                <a:lnTo>
                  <a:pt x="58443" y="0"/>
                </a:lnTo>
                <a:lnTo>
                  <a:pt x="2454357" y="0"/>
                </a:lnTo>
                <a:lnTo>
                  <a:pt x="2512800" y="0"/>
                </a:lnTo>
                <a:lnTo>
                  <a:pt x="2512800" y="58443"/>
                </a:lnTo>
                <a:lnTo>
                  <a:pt x="2512800" y="601980"/>
                </a:lnTo>
                <a:lnTo>
                  <a:pt x="2512800" y="2029557"/>
                </a:lnTo>
                <a:cubicBezTo>
                  <a:pt x="2512800" y="2061834"/>
                  <a:pt x="2486634" y="2088000"/>
                  <a:pt x="2454357" y="2088000"/>
                </a:cubicBezTo>
                <a:lnTo>
                  <a:pt x="58443" y="2088000"/>
                </a:lnTo>
                <a:cubicBezTo>
                  <a:pt x="26166" y="2088000"/>
                  <a:pt x="0" y="2061834"/>
                  <a:pt x="0" y="2029557"/>
                </a:cubicBezTo>
                <a:lnTo>
                  <a:pt x="0" y="601980"/>
                </a:lnTo>
                <a:lnTo>
                  <a:pt x="0" y="5844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88000" tIns="468000" rIns="468000" bIns="468000">
            <a:noAutofit/>
          </a:bodyPr>
          <a:lstStyle>
            <a:lvl1pPr>
              <a:lnSpc>
                <a:spcPct val="80000"/>
              </a:lnSpc>
              <a:defRPr sz="4400" b="0">
                <a:latin typeface="+mn-lt"/>
              </a:defRPr>
            </a:lvl1pPr>
            <a:lvl2pPr>
              <a:spcAft>
                <a:spcPts val="600"/>
              </a:spcAft>
              <a:defRPr sz="1400"/>
            </a:lvl2pPr>
            <a:lvl3pPr>
              <a:spcAft>
                <a:spcPts val="600"/>
              </a:spcAft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6906115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29F4292-DCEB-EA82-C9EF-6131E1DD73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450000" rIns="453600" bIns="396000" numCol="4" spcCol="468000"/>
          <a:lstStyle>
            <a:lvl1pPr>
              <a:lnSpc>
                <a:spcPct val="80000"/>
              </a:lnSpc>
              <a:spcBef>
                <a:spcPts val="0"/>
              </a:spcBef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defRPr sz="1600"/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654024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7129A8C-749D-E022-1FF3-80062E8520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6588000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486000" bIns="540000" numCol="2" spcCol="396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000" y="2368800"/>
            <a:ext cx="5065199" cy="3892300"/>
          </a:xfrm>
          <a:prstGeom prst="roundRect">
            <a:avLst>
              <a:gd name="adj" fmla="val 146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33613809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6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E09E47-9436-93BD-1E24-017B8870B2F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9122400" cy="3892300"/>
          </a:xfrm>
          <a:prstGeom prst="roundRect">
            <a:avLst>
              <a:gd name="adj" fmla="val 1492"/>
            </a:avLst>
          </a:prstGeom>
          <a:solidFill>
            <a:srgbClr val="E6EBF5">
              <a:alpha val="70000"/>
            </a:srgbClr>
          </a:solidFill>
        </p:spPr>
        <p:txBody>
          <a:bodyPr lIns="684000" tIns="540000" rIns="630000" bIns="540000" numCol="3" spcCol="792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81800" y="2368800"/>
            <a:ext cx="2530800" cy="3892300"/>
          </a:xfrm>
          <a:prstGeom prst="roundRect">
            <a:avLst>
              <a:gd name="adj" fmla="val 22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39444778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3), Heavy content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692E2D-47CA-CE66-A65F-4844CA507A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5" y="421200"/>
            <a:ext cx="3799447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Master title style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856427"/>
            <a:ext cx="378518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 xml:space="preserve">Insert subtitle here at 20 pt and align with the title baseline 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EF72C06-9302-A7DA-4082-4E9D91AC4B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7615" y="492211"/>
            <a:ext cx="6554148" cy="2747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D4DB6C16-FDAA-0E23-5B8C-503EB5620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1263" y="3547475"/>
            <a:ext cx="2059200" cy="2412000"/>
          </a:xfrm>
          <a:prstGeom prst="roundRect">
            <a:avLst>
              <a:gd name="adj" fmla="val 2790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Data 2">
            <a:extLst>
              <a:ext uri="{FF2B5EF4-FFF2-40B4-BE49-F238E27FC236}">
                <a16:creationId xmlns:a16="http://schemas.microsoft.com/office/drawing/2014/main" id="{09CD3E03-6386-E9A0-5335-7F0628D8A9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2562" y="3547475"/>
            <a:ext cx="2059200" cy="2412000"/>
          </a:xfrm>
          <a:prstGeom prst="roundRect">
            <a:avLst>
              <a:gd name="adj" fmla="val 2605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3">
            <a:extLst>
              <a:ext uri="{FF2B5EF4-FFF2-40B4-BE49-F238E27FC236}">
                <a16:creationId xmlns:a16="http://schemas.microsoft.com/office/drawing/2014/main" id="{9D82D5CB-9008-C729-0EF6-1DBDED0B6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862" y="3547475"/>
            <a:ext cx="2059200" cy="2412000"/>
          </a:xfrm>
          <a:prstGeom prst="roundRect">
            <a:avLst>
              <a:gd name="adj" fmla="val 2883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90417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4),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C08C4B7-3898-FB55-EB28-A49CDE0DCA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1727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2D4F8-5511-0ED5-9D8D-1A5893F0FD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C619A02B-FDD2-E25A-BBEC-5762C22A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88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9216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">
            <a:extLst>
              <a:ext uri="{FF2B5EF4-FFF2-40B4-BE49-F238E27FC236}">
                <a16:creationId xmlns:a16="http://schemas.microsoft.com/office/drawing/2014/main" id="{9984A846-FFE8-5A44-E25A-76E476386E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00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708703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2),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578AC5E-5B89-84BD-DDA8-64B949AA76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49C1DB30-D867-CB0D-A559-CE3AC42C81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1"/>
            <a:ext cx="12193199" cy="4680955"/>
          </a:xfrm>
          <a:custGeom>
            <a:avLst/>
            <a:gdLst>
              <a:gd name="connsiteX0" fmla="*/ 0 w 12193199"/>
              <a:gd name="connsiteY0" fmla="*/ 0 h 4680955"/>
              <a:gd name="connsiteX1" fmla="*/ 12193199 w 12193199"/>
              <a:gd name="connsiteY1" fmla="*/ 0 h 4680955"/>
              <a:gd name="connsiteX2" fmla="*/ 12193199 w 12193199"/>
              <a:gd name="connsiteY2" fmla="*/ 1217287 h 4680955"/>
              <a:gd name="connsiteX3" fmla="*/ 12192000 w 12193199"/>
              <a:gd name="connsiteY3" fmla="*/ 1217287 h 4680955"/>
              <a:gd name="connsiteX4" fmla="*/ 12192000 w 12193199"/>
              <a:gd name="connsiteY4" fmla="*/ 4680955 h 4680955"/>
              <a:gd name="connsiteX5" fmla="*/ 11561764 w 12193199"/>
              <a:gd name="connsiteY5" fmla="*/ 4680955 h 4680955"/>
              <a:gd name="connsiteX6" fmla="*/ 11561764 w 12193199"/>
              <a:gd name="connsiteY6" fmla="*/ 3916590 h 4680955"/>
              <a:gd name="connsiteX7" fmla="*/ 11500059 w 12193199"/>
              <a:gd name="connsiteY7" fmla="*/ 3854885 h 4680955"/>
              <a:gd name="connsiteX8" fmla="*/ 690355 w 12193199"/>
              <a:gd name="connsiteY8" fmla="*/ 3854885 h 4680955"/>
              <a:gd name="connsiteX9" fmla="*/ 628650 w 12193199"/>
              <a:gd name="connsiteY9" fmla="*/ 3916590 h 4680955"/>
              <a:gd name="connsiteX10" fmla="*/ 628650 w 12193199"/>
              <a:gd name="connsiteY10" fmla="*/ 4680955 h 4680955"/>
              <a:gd name="connsiteX11" fmla="*/ 0 w 12193199"/>
              <a:gd name="connsiteY11" fmla="*/ 4680955 h 4680955"/>
              <a:gd name="connsiteX12" fmla="*/ 0 w 12193199"/>
              <a:gd name="connsiteY12" fmla="*/ 1217287 h 4680955"/>
              <a:gd name="connsiteX13" fmla="*/ 0 w 12193199"/>
              <a:gd name="connsiteY13" fmla="*/ 808586 h 468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3199" h="4680955">
                <a:moveTo>
                  <a:pt x="0" y="0"/>
                </a:moveTo>
                <a:lnTo>
                  <a:pt x="12193199" y="0"/>
                </a:lnTo>
                <a:lnTo>
                  <a:pt x="12193199" y="1217287"/>
                </a:lnTo>
                <a:lnTo>
                  <a:pt x="12192000" y="1217287"/>
                </a:lnTo>
                <a:lnTo>
                  <a:pt x="12192000" y="4680955"/>
                </a:lnTo>
                <a:lnTo>
                  <a:pt x="11561764" y="4680955"/>
                </a:lnTo>
                <a:lnTo>
                  <a:pt x="11561764" y="3916590"/>
                </a:lnTo>
                <a:cubicBezTo>
                  <a:pt x="11561764" y="3882511"/>
                  <a:pt x="11534138" y="3854885"/>
                  <a:pt x="11500059" y="3854885"/>
                </a:cubicBezTo>
                <a:lnTo>
                  <a:pt x="690355" y="3854885"/>
                </a:lnTo>
                <a:cubicBezTo>
                  <a:pt x="656276" y="3854885"/>
                  <a:pt x="628650" y="3882511"/>
                  <a:pt x="628650" y="3916590"/>
                </a:cubicBezTo>
                <a:lnTo>
                  <a:pt x="628650" y="4680955"/>
                </a:lnTo>
                <a:lnTo>
                  <a:pt x="0" y="4680955"/>
                </a:lnTo>
                <a:lnTo>
                  <a:pt x="0" y="1217287"/>
                </a:lnTo>
                <a:lnTo>
                  <a:pt x="0" y="8085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/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524" y="4205720"/>
            <a:ext cx="4672590" cy="16398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949775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A9BBDE09-C3FF-5CD8-ECFA-7F27716EE4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E62B148-447F-C786-888C-90A8A4A21CD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8871925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2700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40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5" y="4129199"/>
            <a:ext cx="5389964" cy="1412763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FBE75B5-DCA5-762C-3F2B-249E7A2AEF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02449" y="180000"/>
            <a:ext cx="2149475" cy="6080400"/>
          </a:xfrm>
          <a:prstGeom prst="roundRect">
            <a:avLst>
              <a:gd name="adj" fmla="val 2752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11657218-3342-A666-D0EE-4F08AF42B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1924" y="180000"/>
            <a:ext cx="2780075" cy="1904400"/>
          </a:xfrm>
          <a:prstGeom prst="roundRect">
            <a:avLst>
              <a:gd name="adj" fmla="val 29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Key point 2">
            <a:extLst>
              <a:ext uri="{FF2B5EF4-FFF2-40B4-BE49-F238E27FC236}">
                <a16:creationId xmlns:a16="http://schemas.microsoft.com/office/drawing/2014/main" id="{429D7C67-4B17-9B13-EDDE-BEE7AB6E25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1924" y="2268486"/>
            <a:ext cx="2780075" cy="1904400"/>
          </a:xfrm>
          <a:prstGeom prst="roundRect">
            <a:avLst>
              <a:gd name="adj" fmla="val 30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7" name="Key point 3">
            <a:extLst>
              <a:ext uri="{FF2B5EF4-FFF2-40B4-BE49-F238E27FC236}">
                <a16:creationId xmlns:a16="http://schemas.microsoft.com/office/drawing/2014/main" id="{EECC1F04-D7D6-613B-C7CE-42C420A72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1924" y="4356972"/>
            <a:ext cx="2780075" cy="1904400"/>
          </a:xfrm>
          <a:prstGeom prst="roundRect">
            <a:avLst>
              <a:gd name="adj" fmla="val 32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74480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A52B5CC-741E-2F2C-73FF-25A6A1B513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02448" y="900113"/>
            <a:ext cx="447931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3405600" cy="3034799"/>
          </a:xfrm>
          <a:prstGeom prst="roundRect">
            <a:avLst>
              <a:gd name="adj" fmla="val 1803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2468" y="3226299"/>
            <a:ext cx="3405600" cy="3034799"/>
          </a:xfrm>
          <a:prstGeom prst="roundRect">
            <a:avLst>
              <a:gd name="adj" fmla="val 195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76163" y="3226299"/>
            <a:ext cx="3405600" cy="3034799"/>
          </a:xfrm>
          <a:prstGeom prst="roundRect">
            <a:avLst>
              <a:gd name="adj" fmla="val 192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656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+ 3 Da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F5AEFB7-A815-544B-339A-1A3FAB73479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200" cy="3960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860400" tIns="874800" rIns="502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8" y="2304000"/>
            <a:ext cx="629075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E6730B-BF93-53BE-38E8-9BADB1FC3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08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  <a:lvl4pPr marL="180000" indent="0">
              <a:buNone/>
              <a:defRPr/>
            </a:lvl4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8FCE3B-A600-EF0D-54DC-047A6C8F45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32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B858114-3113-AF5C-E677-2F76D9C48F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3266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4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4A4E35D-E6D8-3570-74A3-F3B5865012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2B4FFE-3CF6-F68F-B09B-3AC0FD965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4842225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4491" y="900113"/>
            <a:ext cx="4897272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702" y="3226299"/>
            <a:ext cx="2509200" cy="3034799"/>
          </a:xfrm>
          <a:prstGeom prst="roundRect">
            <a:avLst>
              <a:gd name="adj" fmla="val 239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463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8E3FA5C-2E79-A45A-7AB0-1EF57F03A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72563" y="3226299"/>
            <a:ext cx="2509200" cy="3034799"/>
          </a:xfrm>
          <a:prstGeom prst="roundRect">
            <a:avLst>
              <a:gd name="adj" fmla="val 231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83299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4 key points, data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E9F12AF-A094-D78A-F506-960AF42D78C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11833200" cy="4050000"/>
          </a:xfrm>
          <a:prstGeom prst="roundRect">
            <a:avLst>
              <a:gd name="adj" fmla="val 147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2B70183-02CD-9F8D-41F0-12399D64C7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10DD19-AD62-4A11-4AF7-57ADF49B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921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FA67F0-E9CA-F773-6664-0582F332B8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4079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E80B338-3FED-FC95-111B-DA2415F6AA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4237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(4-col)">
            <a:extLst>
              <a:ext uri="{FF2B5EF4-FFF2-40B4-BE49-F238E27FC236}">
                <a16:creationId xmlns:a16="http://schemas.microsoft.com/office/drawing/2014/main" id="{9AE954CA-8CB0-2FD9-9014-E4EEF11FC1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4413950"/>
            <a:ext cx="11833200" cy="1847150"/>
          </a:xfrm>
          <a:prstGeom prst="roundRect">
            <a:avLst>
              <a:gd name="adj" fmla="val 3180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1404000" tIns="396000" rIns="702000" bIns="396000" numCol="4" spcCol="122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486337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Icon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18794C1-063B-1786-283D-0106F562457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442726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853472"/>
            <a:ext cx="44128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99" y="3628800"/>
            <a:ext cx="4398463" cy="2330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0D367EA2-0CC7-DEFD-0196-5E86E9CAE3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9674" y="449263"/>
            <a:ext cx="2595188" cy="1717200"/>
          </a:xfrm>
          <a:prstGeom prst="roundRect">
            <a:avLst>
              <a:gd name="adj" fmla="val 3355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  <a:p>
            <a:pPr lvl="1"/>
            <a:endParaRPr lang="en-US"/>
          </a:p>
        </p:txBody>
      </p:sp>
      <p:sp>
        <p:nvSpPr>
          <p:cNvPr id="12" name="Description 1">
            <a:extLst>
              <a:ext uri="{FF2B5EF4-FFF2-40B4-BE49-F238E27FC236}">
                <a16:creationId xmlns:a16="http://schemas.microsoft.com/office/drawing/2014/main" id="{649533B0-4A61-736D-93FD-5589C4BEA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3" y="449263"/>
            <a:ext cx="3136601" cy="1717200"/>
          </a:xfrm>
          <a:prstGeom prst="roundRect">
            <a:avLst>
              <a:gd name="adj" fmla="val 3244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ubhead 2">
            <a:extLst>
              <a:ext uri="{FF2B5EF4-FFF2-40B4-BE49-F238E27FC236}">
                <a16:creationId xmlns:a16="http://schemas.microsoft.com/office/drawing/2014/main" id="{9A66E2B8-7804-EEEF-6FBC-F3CACAD1C7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9674" y="2346289"/>
            <a:ext cx="2595188" cy="1717200"/>
          </a:xfrm>
          <a:prstGeom prst="roundRect">
            <a:avLst>
              <a:gd name="adj" fmla="val 3466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19" name="Description 2">
            <a:extLst>
              <a:ext uri="{FF2B5EF4-FFF2-40B4-BE49-F238E27FC236}">
                <a16:creationId xmlns:a16="http://schemas.microsoft.com/office/drawing/2014/main" id="{D4B3B3A5-D166-B877-44FF-025247BB40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863" y="2346289"/>
            <a:ext cx="3136601" cy="1717200"/>
          </a:xfrm>
          <a:prstGeom prst="roundRect">
            <a:avLst>
              <a:gd name="adj" fmla="val 3355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Subhead 3">
            <a:extLst>
              <a:ext uri="{FF2B5EF4-FFF2-40B4-BE49-F238E27FC236}">
                <a16:creationId xmlns:a16="http://schemas.microsoft.com/office/drawing/2014/main" id="{38CA0154-A268-30A3-812B-CE05BC2A4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9674" y="4242275"/>
            <a:ext cx="2595188" cy="1717200"/>
          </a:xfrm>
          <a:prstGeom prst="roundRect">
            <a:avLst>
              <a:gd name="adj" fmla="val 3466"/>
            </a:avLst>
          </a:prstGeom>
          <a:gradFill>
            <a:gsLst>
              <a:gs pos="100000">
                <a:srgbClr val="5346D4"/>
              </a:gs>
              <a:gs pos="10000">
                <a:schemeClr val="tx2"/>
              </a:gs>
            </a:gsLst>
            <a:lin ang="0" scaled="1"/>
          </a:gradFill>
        </p:spPr>
        <p:txBody>
          <a:bodyPr lIns="288000" tIns="864000" rIns="288000" bIns="28800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27" name="Description 3">
            <a:extLst>
              <a:ext uri="{FF2B5EF4-FFF2-40B4-BE49-F238E27FC236}">
                <a16:creationId xmlns:a16="http://schemas.microsoft.com/office/drawing/2014/main" id="{6EE77B6E-ECC9-286F-634B-5D406ED141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4863" y="4242275"/>
            <a:ext cx="3136601" cy="1717200"/>
          </a:xfrm>
          <a:prstGeom prst="roundRect">
            <a:avLst>
              <a:gd name="adj" fmla="val 3478"/>
            </a:avLst>
          </a:prstGeom>
          <a:gradFill>
            <a:gsLst>
              <a:gs pos="699">
                <a:srgbClr val="5346D4"/>
              </a:gs>
              <a:gs pos="46000">
                <a:srgbClr val="4A63E5"/>
              </a:gs>
              <a:gs pos="100000">
                <a:schemeClr val="accent4"/>
              </a:gs>
            </a:gsLst>
            <a:lin ang="0" scaled="1"/>
          </a:gra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>
                <a:solidFill>
                  <a:schemeClr val="bg1"/>
                </a:solidFill>
              </a:defRPr>
            </a:lvl3pPr>
            <a:lvl4pPr marL="540000" indent="-180000"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730252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74E56D4-E7CA-0B7E-D1CE-190AC53BA4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1" y="842797"/>
            <a:ext cx="5156835" cy="2354491"/>
          </a:xfrm>
        </p:spPr>
        <p:txBody>
          <a:bodyPr/>
          <a:lstStyle>
            <a:lvl1pPr>
              <a:defRPr sz="6000" b="0">
                <a:latin typeface="+mn-lt"/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599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976408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800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HCLTech Roobert" panose="020B0504030202060203" pitchFamily="34" charset="0"/>
              <a:buNone/>
            </a:pPr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40FA25-29EE-29E6-7DA9-23CACAB37D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846208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19E08A8-31D5-82F8-288F-06CDB236E5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0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accent3"/>
                </a:solidFill>
              </a:defRPr>
            </a:lvl2pPr>
            <a:lvl3pPr marL="0" indent="0">
              <a:spcAft>
                <a:spcPts val="1400"/>
              </a:spcAft>
              <a:buFontTx/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6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69"/>
            <a:ext cx="7165976" cy="3417255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566116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2380CC0-19EF-8D69-C022-3C764F9BBED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7203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09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8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09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8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09" y="4442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8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868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CDD6E7-0406-F175-8724-C242CFE4F8E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5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 dirty="0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223176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center) – Full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B306B1B6-1D38-7BF0-8163-B7CB03F0D5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4366515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7F0D644-0785-5BDD-27A3-3F788EEBF6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1" y="1471362"/>
            <a:ext cx="3800001" cy="1555683"/>
          </a:xfrm>
        </p:spPr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7273" y="2906763"/>
            <a:ext cx="378449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742755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21B299-CCBA-B351-9B09-270E479DAE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2" y="3884400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71558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D1113B-2306-73D6-7C43-4A38F3A20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458617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B46B76-3D2F-5937-DD39-8EDFF8BD2B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3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74652874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693133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33075C5-61B6-FBA6-A6A2-14223ACF999A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8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264363330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CA8D649-AB4D-C49F-A024-807CE0A63813}"/>
              </a:ext>
            </a:extLst>
          </p:cNvPr>
          <p:cNvSpPr>
            <a:spLocks noGrp="1"/>
          </p:cNvSpPr>
          <p:nvPr>
            <p:ph type="ftr" sz="quarter" idx="7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0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0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0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0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49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49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49" y="4556053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49" y="536226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8" y="2570163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8" y="3749675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8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8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7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7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7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7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16004273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63B24F-4BFE-01D3-6E7A-C47E33F4BF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56887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728C56-D1F2-222B-F24A-9C41B47598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339309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5DFCE82-FA27-B68F-85BB-442B71BC27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261986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058C459-AB6D-838C-9B41-87AE8E37EA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293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108BA8A1-4571-8E3D-2A96-209431A8CC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380A1E-BAE6-9B19-21A0-B18E493B0BD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0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0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52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0022E90-9769-89D6-4076-6509F3678D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0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5198290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2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1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4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5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78BB349-A496-B736-F75C-213CBB98473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42887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8F90C0C-93D5-AC5F-5545-949E792E7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8" y="1870075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5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4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075618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E2B65A-2A0C-EC27-BF29-D51E2552E6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bg1"/>
                </a:solidFill>
              </a:defRPr>
            </a:lvl2pPr>
            <a:lvl3pPr marL="0" indent="0">
              <a:spcAft>
                <a:spcPts val="1400"/>
              </a:spcAft>
              <a:buNone/>
              <a:defRPr>
                <a:solidFill>
                  <a:schemeClr val="bg1"/>
                </a:solidFill>
              </a:defRPr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60000" indent="-180000"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6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38757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CDDAD4E4-1FA1-E957-7543-B3F97DB1E4B9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90A511-B06C-0F68-0E99-B5AEE3AA5D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606523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F5FE02-814B-94AF-6D69-AF84FBFB9E0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5737113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6725612A-BFE2-51B8-09DB-42DB9B164344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2E88BF3-DBB4-3159-A1A2-813CB01B38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3350145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7BD606-6ECB-3515-2118-AB70AF25FE0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729538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2E7F9E-2363-3E0F-7AA1-34F8B388BA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8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4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76675006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376447-942F-E792-2A69-1773D287EFE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710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416989847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F82CFE-4280-ACC3-E3EF-008B7CA4E27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8465641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FD4642-FAFC-DCE8-5B20-5FC824E947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0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8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09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725765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AB3DE9C-632B-E0FE-4D89-3BFD7AFD79C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104365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E995D0-17A3-8470-88B1-C954CC4A06C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8" y="896192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46760134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399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2924718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68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 layouts after this Master">
    <p:bg>
      <p:bgPr>
        <a:solidFill>
          <a:srgbClr val="FF7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A98B08-52B3-D854-4AD6-820E36CB6FD0}"/>
              </a:ext>
            </a:extLst>
          </p:cNvPr>
          <p:cNvSpPr txBox="1"/>
          <p:nvPr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Do not use layouts after this Master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F1701-6FDC-1383-B7AA-C78D6A93389F}"/>
              </a:ext>
            </a:extLst>
          </p:cNvPr>
          <p:cNvSpPr txBox="1"/>
          <p:nvPr userDrawn="1"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Do not use layouts after this Master</a:t>
            </a:r>
          </a:p>
        </p:txBody>
      </p:sp>
    </p:spTree>
    <p:extLst>
      <p:ext uri="{BB962C8B-B14F-4D97-AF65-F5344CB8AC3E}">
        <p14:creationId xmlns:p14="http://schemas.microsoft.com/office/powerpoint/2010/main" val="287267088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9611B0-444A-87BA-3479-946933FA6CB1}"/>
              </a:ext>
            </a:extLst>
          </p:cNvPr>
          <p:cNvSpPr txBox="1"/>
          <p:nvPr/>
        </p:nvSpPr>
        <p:spPr>
          <a:xfrm>
            <a:off x="897024" y="2048332"/>
            <a:ext cx="325249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Bold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B6E6B-6EC0-D6CF-D881-26F69D3D90E3}"/>
              </a:ext>
            </a:extLst>
          </p:cNvPr>
          <p:cNvSpPr txBox="1"/>
          <p:nvPr/>
        </p:nvSpPr>
        <p:spPr>
          <a:xfrm>
            <a:off x="897024" y="2647868"/>
            <a:ext cx="40267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Bold Italic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CEE93-DA7C-5521-01BF-55A37A75BCDF}"/>
              </a:ext>
            </a:extLst>
          </p:cNvPr>
          <p:cNvSpPr txBox="1"/>
          <p:nvPr/>
        </p:nvSpPr>
        <p:spPr>
          <a:xfrm>
            <a:off x="897024" y="4954373"/>
            <a:ext cx="36756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Regular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6739-A1A4-649A-6D11-C40712C65326}"/>
              </a:ext>
            </a:extLst>
          </p:cNvPr>
          <p:cNvSpPr txBox="1"/>
          <p:nvPr/>
        </p:nvSpPr>
        <p:spPr>
          <a:xfrm>
            <a:off x="897024" y="5553909"/>
            <a:ext cx="44339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Regular Italic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06CAD-2E82-88C9-0557-7C2DCD381AFC}"/>
              </a:ext>
            </a:extLst>
          </p:cNvPr>
          <p:cNvSpPr txBox="1"/>
          <p:nvPr/>
        </p:nvSpPr>
        <p:spPr>
          <a:xfrm>
            <a:off x="6275388" y="2048332"/>
            <a:ext cx="3959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SemiBold" pitchFamily="2" charset="0"/>
                <a:ea typeface="+mn-ea"/>
                <a:cs typeface="HCLTech Roobert SemiBold" pitchFamily="2" charset="0"/>
              </a:rPr>
              <a:t>HCLTech Roobert SemiBold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6BC6E-DFE1-BD72-B80A-7F2CC7F80421}"/>
              </a:ext>
            </a:extLst>
          </p:cNvPr>
          <p:cNvSpPr txBox="1"/>
          <p:nvPr/>
        </p:nvSpPr>
        <p:spPr>
          <a:xfrm>
            <a:off x="6275388" y="2647868"/>
            <a:ext cx="475130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SemiBold" pitchFamily="2" charset="0"/>
                <a:ea typeface="+mn-ea"/>
                <a:cs typeface="HCLTech Roobert SemiBold" pitchFamily="2" charset="0"/>
              </a:rPr>
              <a:t>HCLTech Roobert SemiBold Italic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6C1CF-132E-42AE-F789-931490D105D7}"/>
              </a:ext>
            </a:extLst>
          </p:cNvPr>
          <p:cNvSpPr txBox="1"/>
          <p:nvPr/>
        </p:nvSpPr>
        <p:spPr>
          <a:xfrm>
            <a:off x="897024" y="1580748"/>
            <a:ext cx="37558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(Headings) with “Bold”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A7388-0488-392E-EC42-8B5573B4ED64}"/>
              </a:ext>
            </a:extLst>
          </p:cNvPr>
          <p:cNvSpPr txBox="1"/>
          <p:nvPr/>
        </p:nvSpPr>
        <p:spPr>
          <a:xfrm>
            <a:off x="897024" y="4555757"/>
            <a:ext cx="7566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(Body)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2D796-65CD-7103-8074-767217BBB039}"/>
              </a:ext>
            </a:extLst>
          </p:cNvPr>
          <p:cNvSpPr txBox="1"/>
          <p:nvPr/>
        </p:nvSpPr>
        <p:spPr>
          <a:xfrm>
            <a:off x="6275388" y="1561102"/>
            <a:ext cx="179215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Additional font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FE898-14D5-AA00-6750-C59702593466}"/>
              </a:ext>
            </a:extLst>
          </p:cNvPr>
          <p:cNvSpPr txBox="1"/>
          <p:nvPr userDrawn="1"/>
        </p:nvSpPr>
        <p:spPr>
          <a:xfrm>
            <a:off x="6275388" y="4954373"/>
            <a:ext cx="33326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Light" panose="020B0304030202060203" pitchFamily="34" charset="0"/>
                <a:ea typeface="+mn-ea"/>
                <a:cs typeface="HCLTech Roobert Light" panose="020B0304030202060203" pitchFamily="34" charset="0"/>
              </a:rPr>
              <a:t>HCLTech Roobert Light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CE973-45F8-6EC2-B692-9B7A9EF89009}"/>
              </a:ext>
            </a:extLst>
          </p:cNvPr>
          <p:cNvSpPr txBox="1"/>
          <p:nvPr userDrawn="1"/>
        </p:nvSpPr>
        <p:spPr>
          <a:xfrm>
            <a:off x="6275388" y="5553909"/>
            <a:ext cx="411811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Light" panose="020B0304030202060203" pitchFamily="34" charset="0"/>
                <a:ea typeface="+mn-ea"/>
                <a:cs typeface="HCLTech Roobert Light" panose="020B0304030202060203" pitchFamily="34" charset="0"/>
              </a:rPr>
              <a:t>HCLTech Roobert Light Italic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BE0DA-97DB-5757-332E-4D24BE41DF4D}"/>
              </a:ext>
            </a:extLst>
          </p:cNvPr>
          <p:cNvSpPr txBox="1"/>
          <p:nvPr userDrawn="1"/>
        </p:nvSpPr>
        <p:spPr>
          <a:xfrm>
            <a:off x="6275388" y="3671638"/>
            <a:ext cx="340472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  <a:t xml:space="preserve">HCLTech Roobert Bold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(font only, not bold function)</a:t>
            </a:r>
          </a:p>
        </p:txBody>
      </p:sp>
      <p:cxnSp>
        <p:nvCxnSpPr>
          <p:cNvPr id="15" name="Straight Connector 1">
            <a:extLst>
              <a:ext uri="{FF2B5EF4-FFF2-40B4-BE49-F238E27FC236}">
                <a16:creationId xmlns:a16="http://schemas.microsoft.com/office/drawing/2014/main" id="{51C2974B-E40E-7E25-4FFE-DB7AA732EEF3}"/>
              </a:ext>
            </a:extLst>
          </p:cNvPr>
          <p:cNvCxnSpPr>
            <a:cxnSpLocks/>
          </p:cNvCxnSpPr>
          <p:nvPr userDrawn="1"/>
        </p:nvCxnSpPr>
        <p:spPr>
          <a:xfrm>
            <a:off x="5781674" y="1580748"/>
            <a:ext cx="0" cy="4342493"/>
          </a:xfrm>
          <a:prstGeom prst="line">
            <a:avLst/>
          </a:prstGeom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9203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BD4712-137D-1536-AE6E-5E0376C712BE}"/>
              </a:ext>
            </a:extLst>
          </p:cNvPr>
          <p:cNvSpPr txBox="1"/>
          <p:nvPr userDrawn="1"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1634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 xml:space="preserve"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8809774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5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9E10-0871-E470-2A53-7E48C5E2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1" y="57077"/>
            <a:ext cx="11359435" cy="71959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object 13">
            <a:extLst>
              <a:ext uri="{FF2B5EF4-FFF2-40B4-BE49-F238E27FC236}">
                <a16:creationId xmlns:a16="http://schemas.microsoft.com/office/drawing/2014/main" id="{F70C6128-105E-DAED-E266-837B75A7B90D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3000" y="6469197"/>
            <a:ext cx="1862836" cy="2069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C771AE-A786-021A-F6E9-9092CBD1172B}"/>
              </a:ext>
            </a:extLst>
          </p:cNvPr>
          <p:cNvSpPr/>
          <p:nvPr userDrawn="1"/>
        </p:nvSpPr>
        <p:spPr>
          <a:xfrm>
            <a:off x="401630" y="6501062"/>
            <a:ext cx="145873" cy="1432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12176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59F80E-620D-49A1-BE04-AB53E30ABC2A}" type="slidenum">
              <a:rPr kumimoji="0" lang="it-IT" sz="931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Segoe UI" panose="020B0502040204020203" pitchFamily="34" charset="0"/>
              </a:rPr>
              <a:pPr marL="0" marR="0" lvl="0" indent="0" algn="r" defTabSz="12176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98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6CC032-7FFA-8594-B58A-48EF8F1CDC4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2861" y="6511962"/>
            <a:ext cx="0" cy="121444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0352ECD-C87C-F7FE-041E-E77B68D6A614}"/>
              </a:ext>
            </a:extLst>
          </p:cNvPr>
          <p:cNvSpPr>
            <a:spLocks/>
          </p:cNvSpPr>
          <p:nvPr userDrawn="1"/>
        </p:nvSpPr>
        <p:spPr>
          <a:xfrm>
            <a:off x="768976" y="6501062"/>
            <a:ext cx="3451265" cy="1432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16204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1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Segoe UI" panose="020B0502040204020203" pitchFamily="34" charset="0"/>
              </a:rPr>
              <a:t>Copyright © 2024 HCL Technologies Limited  |  www.hcltech.com</a:t>
            </a:r>
          </a:p>
        </p:txBody>
      </p:sp>
    </p:spTree>
    <p:extLst>
      <p:ext uri="{BB962C8B-B14F-4D97-AF65-F5344CB8AC3E}">
        <p14:creationId xmlns:p14="http://schemas.microsoft.com/office/powerpoint/2010/main" val="1089246206"/>
      </p:ext>
    </p:extLst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671" y="6465600"/>
            <a:ext cx="153888" cy="12311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93889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The Beam 2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4A294858-B792-3925-C3E4-148450FA3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3818" y="0"/>
            <a:ext cx="5258182" cy="5962650"/>
          </a:xfrm>
          <a:custGeom>
            <a:avLst/>
            <a:gdLst>
              <a:gd name="connsiteX0" fmla="*/ 0 w 5258182"/>
              <a:gd name="connsiteY0" fmla="*/ 0 h 5962650"/>
              <a:gd name="connsiteX1" fmla="*/ 5258182 w 5258182"/>
              <a:gd name="connsiteY1" fmla="*/ 0 h 5962650"/>
              <a:gd name="connsiteX2" fmla="*/ 5258182 w 5258182"/>
              <a:gd name="connsiteY2" fmla="*/ 5962650 h 5962650"/>
              <a:gd name="connsiteX3" fmla="*/ 50800 w 5258182"/>
              <a:gd name="connsiteY3" fmla="*/ 5962650 h 5962650"/>
              <a:gd name="connsiteX4" fmla="*/ 0 w 5258182"/>
              <a:gd name="connsiteY4" fmla="*/ 5911850 h 596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8182" h="5962650">
                <a:moveTo>
                  <a:pt x="0" y="0"/>
                </a:moveTo>
                <a:lnTo>
                  <a:pt x="5258182" y="0"/>
                </a:lnTo>
                <a:lnTo>
                  <a:pt x="5258182" y="5962650"/>
                </a:lnTo>
                <a:lnTo>
                  <a:pt x="50800" y="5962650"/>
                </a:lnTo>
                <a:cubicBezTo>
                  <a:pt x="22733" y="5962650"/>
                  <a:pt x="0" y="5939917"/>
                  <a:pt x="0" y="591185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821CF-8619-1A2D-D416-2344BF6BD9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033" y="1872000"/>
            <a:ext cx="4877188" cy="2119042"/>
          </a:xfrm>
        </p:spPr>
        <p:txBody>
          <a:bodyPr anchor="b"/>
          <a:lstStyle>
            <a:lvl1pPr algn="l">
              <a:lnSpc>
                <a:spcPct val="84000"/>
              </a:lnSpc>
              <a:defRPr sz="5400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 dirty="0"/>
              <a:t>Insert title maximum three 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8BD97-8AE5-B670-785A-C9D62DB4A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6532" y="3840126"/>
            <a:ext cx="4864213" cy="903458"/>
          </a:xfrm>
        </p:spPr>
        <p:txBody>
          <a:bodyPr wrap="square" tIns="468000">
            <a:sp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 xml:space="preserve">Insert cover subtitle </a:t>
            </a:r>
          </a:p>
        </p:txBody>
      </p:sp>
      <p:sp>
        <p:nvSpPr>
          <p:cNvPr id="4" name="Presenter or Date">
            <a:extLst>
              <a:ext uri="{FF2B5EF4-FFF2-40B4-BE49-F238E27FC236}">
                <a16:creationId xmlns:a16="http://schemas.microsoft.com/office/drawing/2014/main" id="{AF036F6D-D26C-EE81-85E3-ECDAB050D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411" y="5734907"/>
            <a:ext cx="4217231" cy="276999"/>
          </a:xfrm>
        </p:spPr>
        <p:txBody>
          <a:bodyPr anchor="b">
            <a:sp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430210883"/>
      </p:ext>
    </p:extLst>
  </p:cSld>
  <p:clrMapOvr>
    <a:masterClrMapping/>
  </p:clrMapOvr>
  <p:hf hdr="0" ftr="0" dt="0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37063" y="289513"/>
            <a:ext cx="11655840" cy="899665"/>
          </a:xfrm>
        </p:spPr>
        <p:txBody>
          <a:bodyPr tIns="45720" bIns="45720"/>
          <a:lstStyle>
            <a:lvl1pPr>
              <a:defRPr lang="en-US" sz="3600" b="0" kern="1200" cap="none" spc="0" baseline="0" dirty="0">
                <a:ln w="3175">
                  <a:noFill/>
                </a:ln>
                <a:gradFill>
                  <a:gsLst>
                    <a:gs pos="1250">
                      <a:schemeClr val="accent1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37063" y="1189178"/>
            <a:ext cx="11655078" cy="85132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980" b="0"/>
            </a:lvl4pPr>
            <a:lvl5pPr>
              <a:defRPr sz="980" b="0"/>
            </a:lvl5pPr>
          </a:lstStyle>
          <a:p>
            <a:pPr lvl="0"/>
            <a:r>
              <a:rPr lang="en-US"/>
              <a:t>Subheading text style</a:t>
            </a:r>
          </a:p>
          <a:p>
            <a:pPr lvl="1"/>
            <a:r>
              <a:rPr lang="en-US"/>
              <a:t>Paragraph title text style</a:t>
            </a:r>
          </a:p>
          <a:p>
            <a:pPr lvl="2"/>
            <a:r>
              <a:rPr lang="en-US"/>
              <a:t>Body text style</a:t>
            </a:r>
          </a:p>
        </p:txBody>
      </p:sp>
    </p:spTree>
    <p:extLst>
      <p:ext uri="{BB962C8B-B14F-4D97-AF65-F5344CB8AC3E}">
        <p14:creationId xmlns:p14="http://schemas.microsoft.com/office/powerpoint/2010/main" val="590021257"/>
      </p:ext>
    </p:extLst>
  </p:cSld>
  <p:clrMapOvr>
    <a:masterClrMapping/>
  </p:clrMapOvr>
  <p:transition>
    <p:fade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2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634950"/>
            <a:ext cx="11430000" cy="350283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799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E825F5B-D4A0-A94B-EE3D-A364E454D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5EC5ED0-4308-78A9-DE42-8916115E2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609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3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2024 HCL Technologies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561930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056" y="174298"/>
            <a:ext cx="10985343" cy="474780"/>
          </a:xfrm>
        </p:spPr>
        <p:txBody>
          <a:bodyPr/>
          <a:lstStyle>
            <a:lvl1pPr algn="ctr"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pic>
        <p:nvPicPr>
          <p:cNvPr id="5" name="Picture 4" descr="footer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54677"/>
            <a:ext cx="12188825" cy="6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57841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533072" y="749419"/>
            <a:ext cx="11090841" cy="0"/>
          </a:xfrm>
          <a:prstGeom prst="line">
            <a:avLst/>
          </a:prstGeom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 userDrawn="1"/>
        </p:nvGrpSpPr>
        <p:grpSpPr>
          <a:xfrm>
            <a:off x="10933432" y="253778"/>
            <a:ext cx="524872" cy="337973"/>
            <a:chOff x="6258192" y="2164972"/>
            <a:chExt cx="602756" cy="388124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6857773" y="2164972"/>
              <a:ext cx="0" cy="388124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556747" y="2199387"/>
              <a:ext cx="301026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268479" y="2199387"/>
              <a:ext cx="294647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268479" y="2164972"/>
              <a:ext cx="0" cy="388124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6258192" y="2553096"/>
              <a:ext cx="602756" cy="0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6563126" y="2164972"/>
              <a:ext cx="294647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268479" y="2164972"/>
              <a:ext cx="297884" cy="356668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361827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981705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latin typeface="Raleway"/>
                <a:cs typeface="Raleway"/>
              </a:defRPr>
            </a:lvl1pPr>
          </a:lstStyle>
          <a:p>
            <a:r>
              <a:rPr lang="en-US" dirty="0"/>
              <a:t xml:space="preserve">	</a:t>
            </a:r>
          </a:p>
        </p:txBody>
      </p:sp>
    </p:spTree>
    <p:extLst>
      <p:ext uri="{BB962C8B-B14F-4D97-AF65-F5344CB8AC3E}">
        <p14:creationId xmlns:p14="http://schemas.microsoft.com/office/powerpoint/2010/main" val="3101634277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out footer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92602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 xml:space="preserve"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962862" y="5880846"/>
            <a:ext cx="2266277" cy="9771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85011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ed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292602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5D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94848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1067"/>
              </a:spcAft>
              <a:buFont typeface="Arial"/>
              <a:buNone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380990" indent="-380990"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2pPr>
            <a:lvl3pPr marL="988459" indent="-304792"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530312" indent="-304792"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2133547" indent="-304792">
              <a:buFont typeface="Arial"/>
              <a:buChar char="–"/>
              <a:defRPr sz="14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46888"/>
            <a:ext cx="10972800" cy="1088136"/>
          </a:xfrm>
          <a:prstGeom prst="rect">
            <a:avLst/>
          </a:prstGeom>
        </p:spPr>
        <p:txBody>
          <a:bodyPr vert="horz" anchor="b" anchorCtr="0"/>
          <a:lstStyle>
            <a:lvl1pPr algn="l">
              <a:defRPr sz="48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EB43C4-7051-7042-93B5-8C0653444BA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669345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2" descr="A picture containing text, person  Description automatically generated">
            <a:extLst>
              <a:ext uri="{FF2B5EF4-FFF2-40B4-BE49-F238E27FC236}">
                <a16:creationId xmlns:a16="http://schemas.microsoft.com/office/drawing/2014/main" id="{A0058C00-97F1-86D7-3741-B8BD284340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" b="-236"/>
          <a:stretch/>
        </p:blipFill>
        <p:spPr>
          <a:xfrm>
            <a:off x="2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5513D-59E8-8F82-D00F-05D6F14693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99" y="1714500"/>
            <a:ext cx="6192863" cy="11557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799"/>
            </a:lvl1pPr>
          </a:lstStyle>
          <a:p>
            <a:pPr lvl="0"/>
            <a:r>
              <a:rPr lang="en-US" dirty="0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993156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2">
            <a:extLst>
              <a:ext uri="{FF2B5EF4-FFF2-40B4-BE49-F238E27FC236}">
                <a16:creationId xmlns:a16="http://schemas.microsoft.com/office/drawing/2014/main" id="{DF2FE585-DEB2-9385-A233-004B9D7FC0B3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0" y="0"/>
            <a:chExt cx="20104099" cy="11308556"/>
          </a:xfrm>
        </p:grpSpPr>
        <p:pic>
          <p:nvPicPr>
            <p:cNvPr id="39" name="object 3">
              <a:extLst>
                <a:ext uri="{FF2B5EF4-FFF2-40B4-BE49-F238E27FC236}">
                  <a16:creationId xmlns:a16="http://schemas.microsoft.com/office/drawing/2014/main" id="{5C931129-D884-3125-BA58-033EC34B811E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pic>
          <p:nvPicPr>
            <p:cNvPr id="41" name="object 5">
              <a:extLst>
                <a:ext uri="{FF2B5EF4-FFF2-40B4-BE49-F238E27FC236}">
                  <a16:creationId xmlns:a16="http://schemas.microsoft.com/office/drawing/2014/main" id="{38B18016-7766-3B76-F702-BCA8FBC8BF14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8034" y="533547"/>
              <a:ext cx="6592804" cy="73251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B0BFB27-3717-56BA-AE00-570ACD5C35EA}"/>
              </a:ext>
            </a:extLst>
          </p:cNvPr>
          <p:cNvSpPr txBox="1"/>
          <p:nvPr userDrawn="1"/>
        </p:nvSpPr>
        <p:spPr>
          <a:xfrm>
            <a:off x="384694" y="6293109"/>
            <a:ext cx="1990288" cy="20313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2025 HCLTech | Confidential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E8F102E-DC00-DBE1-F4B3-1BD393246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1" y="2196504"/>
            <a:ext cx="6578600" cy="1412875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ts val="4859"/>
              </a:lnSpc>
              <a:buNone/>
              <a:defRPr sz="4799" b="1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9BE1CC7-79AA-A1F6-65FF-9B022A7EC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1" y="3748640"/>
            <a:ext cx="6578600" cy="633304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2999" b="0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9E6DC15-6519-CB80-B41E-4A4D08F55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4930805"/>
            <a:ext cx="6578600" cy="1000542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object 9">
            <a:extLst>
              <a:ext uri="{FF2B5EF4-FFF2-40B4-BE49-F238E27FC236}">
                <a16:creationId xmlns:a16="http://schemas.microsoft.com/office/drawing/2014/main" id="{C7F1927A-E700-4CFD-8DE3-DB60DAED506F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48859" y="29636"/>
            <a:ext cx="7843139" cy="6828364"/>
          </a:xfrm>
          <a:prstGeom prst="rect">
            <a:avLst/>
          </a:prstGeom>
        </p:spPr>
      </p:pic>
      <p:pic>
        <p:nvPicPr>
          <p:cNvPr id="12" name="object 13">
            <a:extLst>
              <a:ext uri="{FF2B5EF4-FFF2-40B4-BE49-F238E27FC236}">
                <a16:creationId xmlns:a16="http://schemas.microsoft.com/office/drawing/2014/main" id="{E618F3CA-C97B-488D-819C-E506A6F4CA68}"/>
              </a:ext>
            </a:extLst>
          </p:cNvPr>
          <p:cNvPicPr/>
          <p:nvPr userDrawn="1"/>
        </p:nvPicPr>
        <p:blipFill rotWithShape="1">
          <a:blip r:embed="rId5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17"/>
          <a:stretch/>
        </p:blipFill>
        <p:spPr>
          <a:xfrm>
            <a:off x="10800906" y="6513156"/>
            <a:ext cx="1010095" cy="19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33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D4D1FADD-B427-BFFC-CEB9-AF28BDE3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21B7A43-FA1F-D7B2-A2C4-AA10C38BE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223357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41439-5BBD-7EBA-A66F-BF21FD146B16}"/>
              </a:ext>
            </a:extLst>
          </p:cNvPr>
          <p:cNvSpPr/>
          <p:nvPr userDrawn="1"/>
        </p:nvSpPr>
        <p:spPr>
          <a:xfrm>
            <a:off x="10799379" y="6164317"/>
            <a:ext cx="1229711" cy="536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5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9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10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13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14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6650623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Beam (right) – Inten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am (right) – Intense" descr="Shape, rectangle  Description automatically generated">
            <a:extLst>
              <a:ext uri="{FF2B5EF4-FFF2-40B4-BE49-F238E27FC236}">
                <a16:creationId xmlns:a16="http://schemas.microsoft.com/office/drawing/2014/main" id="{BA1FBF11-EE0B-B8D8-4FCF-0F6F11EC4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EE3674-41FE-97EC-1BC4-A2F79B149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290" y="4304437"/>
            <a:ext cx="4573385" cy="1240981"/>
          </a:xfrm>
        </p:spPr>
        <p:txBody>
          <a:bodyPr anchor="t"/>
          <a:lstStyle>
            <a:lvl1pPr>
              <a:lnSpc>
                <a:spcPct val="84000"/>
              </a:lnSpc>
              <a:defRPr sz="4799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 xml:space="preserve">Insert </a:t>
            </a:r>
            <a:br>
              <a:rPr lang="en-US"/>
            </a:br>
            <a:r>
              <a:rPr lang="en-US"/>
              <a:t>section title</a:t>
            </a: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50A0B76E-0C63-5E7A-519C-CCF5503AE6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2485" y="5397238"/>
            <a:ext cx="4560654" cy="632898"/>
          </a:xfrm>
          <a:prstGeom prst="rect">
            <a:avLst/>
          </a:prstGeom>
        </p:spPr>
        <p:txBody>
          <a:bodyPr wrap="square" tIns="252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42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2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2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2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284204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2" descr="A picture containing text, person  Description automatically generated">
            <a:extLst>
              <a:ext uri="{FF2B5EF4-FFF2-40B4-BE49-F238E27FC236}">
                <a16:creationId xmlns:a16="http://schemas.microsoft.com/office/drawing/2014/main" id="{A0058C00-97F1-86D7-3741-B8BD284340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" b="-23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5513D-59E8-8F82-D00F-05D6F14693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99" y="1714500"/>
            <a:ext cx="6192863" cy="11557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/>
            </a:lvl1pPr>
          </a:lstStyle>
          <a:p>
            <a:pPr lvl="0"/>
            <a:r>
              <a:rPr lang="en-US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94254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ai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828820"/>
          </a:xfrm>
        </p:spPr>
        <p:txBody>
          <a:bodyPr>
            <a:normAutofit/>
          </a:bodyPr>
          <a:lstStyle>
            <a:lvl1pPr>
              <a:defRPr sz="2800" b="0">
                <a:solidFill>
                  <a:srgbClr val="5F1EBE"/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pic>
        <p:nvPicPr>
          <p:cNvPr id="7" name="Picture 7" descr="Background pattern  Description automatically generated with low confidence">
            <a:extLst>
              <a:ext uri="{FF2B5EF4-FFF2-40B4-BE49-F238E27FC236}">
                <a16:creationId xmlns:a16="http://schemas.microsoft.com/office/drawing/2014/main" id="{716945BF-81C5-4ED1-A7BA-2BD4B19627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" y="6455546"/>
            <a:ext cx="12186698" cy="402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EEC277-E503-4B68-90B0-B731CCB174B0}"/>
              </a:ext>
            </a:extLst>
          </p:cNvPr>
          <p:cNvCxnSpPr>
            <a:cxnSpLocks/>
          </p:cNvCxnSpPr>
          <p:nvPr userDrawn="1"/>
        </p:nvCxnSpPr>
        <p:spPr>
          <a:xfrm>
            <a:off x="314107" y="732916"/>
            <a:ext cx="11496893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bg1"/>
                </a:gs>
                <a:gs pos="59000">
                  <a:srgbClr val="B9C8FF"/>
                </a:gs>
                <a:gs pos="24000">
                  <a:srgbClr val="FFFFFF"/>
                </a:gs>
                <a:gs pos="86000">
                  <a:schemeClr val="accent1">
                    <a:lumMod val="75000"/>
                  </a:schemeClr>
                </a:gs>
                <a:gs pos="75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3E0492-95B8-4A5C-B6EF-86C3A81792FB}"/>
              </a:ext>
            </a:extLst>
          </p:cNvPr>
          <p:cNvSpPr txBox="1"/>
          <p:nvPr userDrawn="1"/>
        </p:nvSpPr>
        <p:spPr>
          <a:xfrm>
            <a:off x="4768916" y="6677013"/>
            <a:ext cx="2633093" cy="20313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2024 HCLTech Technologies | 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BF00BF-A9FE-4AAD-B455-BE75F5B570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24764" y="6493231"/>
            <a:ext cx="2179785" cy="3061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8460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ructions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">
            <a:extLst>
              <a:ext uri="{FF2B5EF4-FFF2-40B4-BE49-F238E27FC236}">
                <a16:creationId xmlns:a16="http://schemas.microsoft.com/office/drawing/2014/main" id="{19BAE03A-ACD6-ACAD-F6E2-CFFD48FA4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0001" y="180002"/>
            <a:ext cx="11832000" cy="6066811"/>
          </a:xfrm>
          <a:prstGeom prst="roundRect">
            <a:avLst>
              <a:gd name="adj" fmla="val 951"/>
            </a:avLst>
          </a:prstGeom>
          <a:solidFill>
            <a:srgbClr val="E6E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1A6CD62-FFFC-0821-096E-A4F49EE13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0D92A8-E134-8AC0-6468-29969454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69B7B-39A6-D2FE-D6C6-EF918018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57" y="650515"/>
            <a:ext cx="4150524" cy="249299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052478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0043160" cy="4785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634948"/>
            <a:ext cx="10043160" cy="350283"/>
          </a:xfr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C3FC5F6-8482-24D8-643E-00F09945440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1" y="1104900"/>
            <a:ext cx="11430000" cy="525779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 marL="465138" indent="-2333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1200"/>
            </a:lvl2pPr>
            <a:lvl3pPr marL="687388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62876630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a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FF580F-719F-8693-863B-4A74F1482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04900"/>
            <a:ext cx="11430000" cy="5257800"/>
          </a:xfrm>
        </p:spPr>
        <p:txBody>
          <a:bodyPr l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37874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>
            <a:lvl1pPr>
              <a:defRPr sz="85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18812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828820"/>
          </a:xfrm>
        </p:spPr>
        <p:txBody>
          <a:bodyPr tIns="0" rIns="0" bIns="0">
            <a:noAutofit/>
          </a:bodyPr>
          <a:lstStyle>
            <a:lvl1pPr algn="l">
              <a:lnSpc>
                <a:spcPct val="100000"/>
              </a:lnSpc>
              <a:defRPr sz="2600" b="1">
                <a:latin typeface="HCLTech Roobert" panose="020B0504030202060203" pitchFamily="34" charset="0"/>
                <a:cs typeface="HCLTech Roobert" panose="020B0504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75333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3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2559377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145EFC-0B9A-D2FE-DCAF-2131F4C6E94D}"/>
              </a:ext>
            </a:extLst>
          </p:cNvPr>
          <p:cNvSpPr/>
          <p:nvPr userDrawn="1"/>
        </p:nvSpPr>
        <p:spPr>
          <a:xfrm>
            <a:off x="10813774" y="6182139"/>
            <a:ext cx="1133061" cy="506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0282032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156415"/>
            <a:ext cx="11430000" cy="478537"/>
          </a:xfrm>
        </p:spPr>
        <p:txBody>
          <a:bodyPr>
            <a:normAutofit/>
          </a:bodyPr>
          <a:lstStyle>
            <a:lvl1pPr>
              <a:defRPr sz="2398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2" y="6463698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8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894639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310213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HCLTech Roobert Bold" pitchFamily="50" charset="0"/>
                <a:cs typeface="HCLTech Roobert Bold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>
            <a:lvl1pPr>
              <a:defRPr sz="85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4439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(Light)">
            <a:extLst>
              <a:ext uri="{FF2B5EF4-FFF2-40B4-BE49-F238E27FC236}">
                <a16:creationId xmlns:a16="http://schemas.microsoft.com/office/drawing/2014/main" id="{2C1EF16C-DFAA-560F-64B5-88D98A8E0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2523" b="1657"/>
          <a:stretch/>
        </p:blipFill>
        <p:spPr>
          <a:xfrm flipH="1">
            <a:off x="1" y="0"/>
            <a:ext cx="5861049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A994A46-8018-3B90-C0C5-313FC63254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8525" y="5100216"/>
            <a:ext cx="4520141" cy="1046440"/>
          </a:xfrm>
        </p:spPr>
        <p:txBody>
          <a:bodyPr anchor="b"/>
          <a:lstStyle>
            <a:lvl1pPr>
              <a:lnSpc>
                <a:spcPct val="84000"/>
              </a:lnSpc>
              <a:defRPr sz="7998" b="0"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1798031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B7788-226C-A65B-8EB0-D6F16CAC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1" y="6661015"/>
            <a:ext cx="535379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7200517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Beam (right) – Inten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am (right) – Intense" descr="Shape, rectangle  Description automatically generated">
            <a:extLst>
              <a:ext uri="{FF2B5EF4-FFF2-40B4-BE49-F238E27FC236}">
                <a16:creationId xmlns:a16="http://schemas.microsoft.com/office/drawing/2014/main" id="{BA1FBF11-EE0B-B8D8-4FCF-0F6F11EC4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EE3674-41FE-97EC-1BC4-A2F79B149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290" y="4304437"/>
            <a:ext cx="4573385" cy="1240981"/>
          </a:xfrm>
        </p:spPr>
        <p:txBody>
          <a:bodyPr anchor="t"/>
          <a:lstStyle>
            <a:lvl1pPr>
              <a:lnSpc>
                <a:spcPct val="84000"/>
              </a:lnSpc>
              <a:defRPr sz="4799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 xml:space="preserve">Insert </a:t>
            </a:r>
            <a:br>
              <a:rPr lang="en-US"/>
            </a:br>
            <a:r>
              <a:rPr lang="en-US"/>
              <a:t>section title</a:t>
            </a: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50A0B76E-0C63-5E7A-519C-CCF5503AE6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2485" y="5397238"/>
            <a:ext cx="4560654" cy="632898"/>
          </a:xfrm>
          <a:prstGeom prst="rect">
            <a:avLst/>
          </a:prstGeom>
        </p:spPr>
        <p:txBody>
          <a:bodyPr wrap="square" tIns="252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42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2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2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2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231ED559-7273-B727-F688-D84F8CE21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6D01A31-A89C-D862-1316-016C5D5F1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2310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225125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– The Beam 2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eam (Layout 2)" descr="Chart  Description automatically generated">
            <a:extLst>
              <a:ext uri="{FF2B5EF4-FFF2-40B4-BE49-F238E27FC236}">
                <a16:creationId xmlns:a16="http://schemas.microsoft.com/office/drawing/2014/main" id="{8E58017F-8BF3-5B27-9856-50AFAF0F06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pic>
        <p:nvPicPr>
          <p:cNvPr id="11" name="HCLTech | Supercharged Progress">
            <a:extLst>
              <a:ext uri="{FF2B5EF4-FFF2-40B4-BE49-F238E27FC236}">
                <a16:creationId xmlns:a16="http://schemas.microsoft.com/office/drawing/2014/main" id="{79C4E2CE-653F-42B8-2EBF-DF10F11BD3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48" y="501274"/>
            <a:ext cx="3978000" cy="443439"/>
          </a:xfrm>
          <a:prstGeom prst="rect">
            <a:avLst/>
          </a:prstGeom>
        </p:spPr>
      </p:pic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4A294858-B792-3925-C3E4-148450FA3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3818" y="0"/>
            <a:ext cx="5258182" cy="5962650"/>
          </a:xfrm>
          <a:custGeom>
            <a:avLst/>
            <a:gdLst>
              <a:gd name="connsiteX0" fmla="*/ 0 w 5258182"/>
              <a:gd name="connsiteY0" fmla="*/ 0 h 5962650"/>
              <a:gd name="connsiteX1" fmla="*/ 5258182 w 5258182"/>
              <a:gd name="connsiteY1" fmla="*/ 0 h 5962650"/>
              <a:gd name="connsiteX2" fmla="*/ 5258182 w 5258182"/>
              <a:gd name="connsiteY2" fmla="*/ 5962650 h 5962650"/>
              <a:gd name="connsiteX3" fmla="*/ 50800 w 5258182"/>
              <a:gd name="connsiteY3" fmla="*/ 5962650 h 5962650"/>
              <a:gd name="connsiteX4" fmla="*/ 0 w 5258182"/>
              <a:gd name="connsiteY4" fmla="*/ 5911850 h 596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8182" h="5962650">
                <a:moveTo>
                  <a:pt x="0" y="0"/>
                </a:moveTo>
                <a:lnTo>
                  <a:pt x="5258182" y="0"/>
                </a:lnTo>
                <a:lnTo>
                  <a:pt x="5258182" y="5962650"/>
                </a:lnTo>
                <a:lnTo>
                  <a:pt x="50800" y="5962650"/>
                </a:lnTo>
                <a:cubicBezTo>
                  <a:pt x="22733" y="5962650"/>
                  <a:pt x="0" y="5939917"/>
                  <a:pt x="0" y="591185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 xml:space="preserve">Click on the icon or drag image </a:t>
            </a:r>
            <a:br>
              <a:rPr lang="en-US" dirty="0"/>
            </a:br>
            <a:r>
              <a:rPr lang="en-US" dirty="0"/>
              <a:t xml:space="preserve">to insert an image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821CF-8619-1A2D-D416-2344BF6BD9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033" y="1872000"/>
            <a:ext cx="4877188" cy="2119042"/>
          </a:xfrm>
        </p:spPr>
        <p:txBody>
          <a:bodyPr anchor="b"/>
          <a:lstStyle>
            <a:lvl1pPr algn="l">
              <a:lnSpc>
                <a:spcPct val="84000"/>
              </a:lnSpc>
              <a:defRPr sz="5400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/>
              <a:t>Insert title maximum three 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8BD97-8AE5-B670-785A-C9D62DB4A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6532" y="3840126"/>
            <a:ext cx="4864213" cy="903458"/>
          </a:xfrm>
        </p:spPr>
        <p:txBody>
          <a:bodyPr wrap="square" tIns="468000">
            <a:sp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 xml:space="preserve">Insert cover subtitle </a:t>
            </a:r>
          </a:p>
        </p:txBody>
      </p:sp>
      <p:sp>
        <p:nvSpPr>
          <p:cNvPr id="4" name="Presenter or Date">
            <a:extLst>
              <a:ext uri="{FF2B5EF4-FFF2-40B4-BE49-F238E27FC236}">
                <a16:creationId xmlns:a16="http://schemas.microsoft.com/office/drawing/2014/main" id="{AF036F6D-D26C-EE81-85E3-ECDAB050D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411" y="5734907"/>
            <a:ext cx="4217231" cy="276999"/>
          </a:xfrm>
        </p:spPr>
        <p:txBody>
          <a:bodyPr anchor="b">
            <a:sp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  <p:pic>
        <p:nvPicPr>
          <p:cNvPr id="13" name="HCL Group">
            <a:extLst>
              <a:ext uri="{FF2B5EF4-FFF2-40B4-BE49-F238E27FC236}">
                <a16:creationId xmlns:a16="http://schemas.microsoft.com/office/drawing/2014/main" id="{6965122D-EF34-1B45-815B-BEF8DD4503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704" y="6372636"/>
            <a:ext cx="1368000" cy="19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620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41866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81" Type="http://schemas.openxmlformats.org/officeDocument/2006/relationships/slideLayout" Target="../slideLayouts/slideLayout181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92" Type="http://schemas.openxmlformats.org/officeDocument/2006/relationships/slideLayout" Target="../slideLayouts/slideLayout192.xml"/><Relationship Id="rId206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image" Target="../media/image1.emf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79" Type="http://schemas.openxmlformats.org/officeDocument/2006/relationships/slideLayout" Target="../slideLayouts/slideLayout179.xml"/><Relationship Id="rId195" Type="http://schemas.openxmlformats.org/officeDocument/2006/relationships/slideLayout" Target="../slideLayouts/slideLayout195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18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HCLTech Logo">
            <a:extLst>
              <a:ext uri="{FF2B5EF4-FFF2-40B4-BE49-F238E27FC236}">
                <a16:creationId xmlns:a16="http://schemas.microsoft.com/office/drawing/2014/main" id="{31CA80FE-5DD0-6B68-7FC7-0A32B29D2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336726F-4ABA-D97F-1D27-BB1FC7F10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72329DD-D2D9-8A41-22C9-F6DC09FB97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8" name="Footer Placeholder">
            <a:extLst>
              <a:ext uri="{FF2B5EF4-FFF2-40B4-BE49-F238E27FC236}">
                <a16:creationId xmlns:a16="http://schemas.microsoft.com/office/drawing/2014/main" id="{8620D470-30D7-087B-D3D4-4161532AB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4165" y="6465600"/>
            <a:ext cx="2016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6" y="1812554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0" y="-482751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82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spcAft>
          <a:spcPts val="900"/>
        </a:spcAft>
        <a:buFont typeface="HCLTech Roobert" panose="020B0504030202060203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400"/>
        </a:spcAft>
        <a:buFont typeface="HCLTech Roobert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HCLTech Roobert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HCLTech Roobert" panose="020B0504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HCLTech Roobert" panose="020B0504030202060203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HCLTech Roobert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5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5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5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5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5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5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5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5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5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5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5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5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5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5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5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5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5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5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5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|  SUPPLY-CHAIN ASSURANCE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Intelligent Analyzer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4864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sources  Integrated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3776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3232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1361414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136141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36141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scanning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163573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 · EPSS · KEV</a:t>
            </a:r>
            <a:endParaRPr lang="en-US" sz="1050" dirty="0"/>
          </a:p>
        </p:txBody>
      </p:sp>
      <p:sp>
        <p:nvSpPr>
          <p:cNvPr id="64" name="Title 63">
            <a:extLst>
              <a:ext uri="{FF2B5EF4-FFF2-40B4-BE49-F238E27FC236}">
                <a16:creationId xmlns:a16="http://schemas.microsoft.com/office/drawing/2014/main" id="{EB6BC61D-DE75-C5DB-CFD8-0B2C06E0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5" y="-2457"/>
            <a:ext cx="5915025" cy="6858000"/>
          </a:xfrm>
        </p:spPr>
        <p:txBody>
          <a:bodyPr anchor="ctr"/>
          <a:lstStyle/>
          <a:p>
            <a:r>
              <a:rPr lang="en-US" sz="6000" dirty="0"/>
              <a:t>SBOM Analyzer Agenda</a:t>
            </a:r>
          </a:p>
        </p:txBody>
      </p:sp>
      <p:graphicFrame>
        <p:nvGraphicFramePr>
          <p:cNvPr id="69" name="Table Placeholder 68">
            <a:extLst>
              <a:ext uri="{FF2B5EF4-FFF2-40B4-BE49-F238E27FC236}">
                <a16:creationId xmlns:a16="http://schemas.microsoft.com/office/drawing/2014/main" id="{0C25AED7-9B87-9B10-F622-39957D946A44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2698059982"/>
              </p:ext>
            </p:extLst>
          </p:nvPr>
        </p:nvGraphicFramePr>
        <p:xfrm>
          <a:off x="6250832" y="900113"/>
          <a:ext cx="5636368" cy="5241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040">
                  <a:extLst>
                    <a:ext uri="{9D8B030D-6E8A-4147-A177-3AD203B41FA5}">
                      <a16:colId xmlns:a16="http://schemas.microsoft.com/office/drawing/2014/main" val="2556512347"/>
                    </a:ext>
                  </a:extLst>
                </a:gridCol>
                <a:gridCol w="4560328">
                  <a:extLst>
                    <a:ext uri="{9D8B030D-6E8A-4147-A177-3AD203B41FA5}">
                      <a16:colId xmlns:a16="http://schemas.microsoft.com/office/drawing/2014/main" val="3428225575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445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to SBOM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200978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SBOM Analysis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75602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Supported Formats &amp; 8-Stage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09623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Projects &amp; SBOM Lifecycle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92246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Multi-Source Analysis &amp; Risk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9851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Progress &amp;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35646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CVE Detail Intelligence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57116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Remediation &amp; Providers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178126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Comparison &amp; Scheduled Scans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830439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Reports &amp; Exports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1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Platform Security, API &amp; Caching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1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Architecture, Who Benefits &amp; Roadmap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3571" y="7321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Introduction- SBOM Analyser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" y="1028729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Analyser ingests standard SBOM files (CycloneDX, SPDX), validates them through an 8-stage pipeline, matches every component against four leading vulnerability databases in parallel, deduplicates findings, scores them with EPSS and KEV signals, and generates AI-powered remediation guidance — all from one web dashboard.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607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607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6771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Vulnerability sources Integrated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6771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7083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7083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9943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6247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standards supported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6247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 1.4-1.6 · SPDX 2.2-2.3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6559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6559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9419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5723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stages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5723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Ingress → signature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7607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26771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providers wired in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6771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Anthropic, OpenAI, Gemini, Sarvam …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7083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7083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9943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6247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6247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· SARIF · CSV · JSON · MD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6559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6559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9419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5723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Adapter-pluggable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5723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 a source in one line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-11429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Workflow - From upload to remediation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42032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7472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2064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4712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Web UI or REST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55464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60904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25496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25496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38144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25496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pipeline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68896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974336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38928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38928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51576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38928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+ SBOM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482328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87768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52360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523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65008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52360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sources in parallel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698480" y="292608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44752" y="3086100"/>
            <a:ext cx="9253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444752" y="308610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601200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765792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76579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37844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Enrich Data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765792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+ KEV + CWE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542032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47472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12064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2064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4712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↔ GHSA cross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855464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660904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825496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825496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438144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825496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+ risk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168896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974336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138928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138928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751576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138928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+ SSE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482328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287768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452360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452360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065008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Fixes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452360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LLM remediation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960120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765792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765792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037844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765792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· SARIF · CSV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1717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ingestion - Formats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Three ways to ingest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8760" y="19385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Drag-and-drop in the SBOM Upload modal — instant validation feedback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08760" y="27157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/api/sboms/upload (multipart) — recommended for new integrations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08760" y="34930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/api/sboms (legacy JSON) — kept for one release, same pipeline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Hard limits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50 MB upload   • 200 MB decompressed   • 100:1 compression ratio cap   • gzip / deflate accepted   • p95 &lt; 500 ms on a 5 MB SBOM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Formats supported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13716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63840" y="1920240"/>
            <a:ext cx="9144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63840" y="1920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78240" y="192024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78240" y="1920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738360" y="192024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38360" y="1920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698480" y="1920240"/>
            <a:ext cx="109728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98480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Tag-Value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2240" y="230428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922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863840" y="230428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63840" y="23042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778240" y="23042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778240" y="2304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738360" y="23042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738360" y="2304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0698480" y="230428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69848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92240" y="2688336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92240" y="2688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863840" y="2688336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63840" y="2688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778240" y="268833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78240" y="268833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38360" y="268833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38360" y="268833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698480" y="2688336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698480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492240" y="307238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92240" y="3072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63840" y="307238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863840" y="30723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778240" y="307238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778240" y="3072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738360" y="307238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738360" y="3072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0698480" y="307238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698480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492240" y="3456432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92240" y="34564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863840" y="3456432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863840" y="34564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778240" y="345643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778240" y="34564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738360" y="345643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738360" y="34564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698480" y="3456432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698480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492240" y="384048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4922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863840" y="384048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863840" y="38404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8778240" y="384048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8778240" y="3840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9738360" y="384048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9738360" y="3840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0698480" y="384048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0698480" y="38404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492240" y="4224528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49224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863840" y="4224528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863840" y="42245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778240" y="422452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778240" y="42245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9738360" y="422452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9738360" y="42245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0698480" y="4224528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0698480" y="42245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6492240" y="474573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 3.0 (JSON-LD), CycloneDX Protobuf, and SPDX RDF/XML are deferred — rejected at ingress with a stable error code so callers can branch on it.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9728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Eight-stage validation pipeline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Size cap, gzip-bomb defence, prototype-pollution rejection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73552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73552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02152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02152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 detect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02152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 vs SPDX, JSON / XML / Tag-Value branch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9904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89904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18504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18504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18504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JSON Schema · XSD · jsonschema with depth + key caps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906256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06256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34856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34856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34856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PURL parse, license-expression, CPE plausibility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Cross-ref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 graph integrity, dangling refs, cycle detection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73552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73552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502152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502152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502152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XXE-safe XML, defusedxml, JSON depth/length caps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9904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089904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18504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18504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NTIA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18504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Minimum-elements check (US baseline) per component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906256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906256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34856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8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34856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134856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Optional cosign / DSSE signature verification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error / warning / info: { code, severity, stage, path, message, remediation, spec_reference }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Multi-source vulnerability scanning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265690"/>
            <a:ext cx="2697480" cy="640080"/>
          </a:xfrm>
          <a:prstGeom prst="rect">
            <a:avLst/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NIST National Vulnerability DB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cpeName + virtualMatchString lookup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Keyword fallback when no CPE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Concurrency-bounded with API-key path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3552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73552" y="1265690"/>
            <a:ext cx="2697480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6432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56432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Open-Source Vulnerabilities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56432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Native PURL queries — no CPE needed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56432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Ecosystem coverage: npm, PyPI, Maven, Go…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56432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Affected-version range matching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89904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9904" y="1265690"/>
            <a:ext cx="2697480" cy="640080"/>
          </a:xfrm>
          <a:prstGeom prst="rect">
            <a:avLst/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2784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72784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GitHub Security Advisory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72784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Token-authenticated GraphQL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72784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First-party severity + CWE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72784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Aliases CVE↔GHSA fed to dedupe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06256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06256" y="1265690"/>
            <a:ext cx="2697480" cy="64008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89136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89136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 community DB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89136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Configurable result limit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89136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Optional details (credit-aware)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89136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Adds breadth on niche components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00889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E6F0F7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414605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ENRICHMENT LAYER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" y="442037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exploitability probability  •  CISA KEV (Known Exploited Vulnerabilities)  •  CVSS 3.1/4.0 normalisation  •  CWE category tagging  •  PURL→CPE virtual matchstring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96901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Fan-out is concurrency-bounded by a per-process semaphore. Adding a fifth source (Snyk, OSS Index, …) is a one-line change to app/sources/registry.py.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6720" y="33567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De-Duplication and Risk Rating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25122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Smart deduplication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708423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When NVD reports CVE-2024-1234 and GHSA reports GHSA-abcd-1234, our two-pass deduplication process identifies them as the same issue and combines them into a single finding, while retaining all source references for traceability.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12574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12574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CVE-…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2010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72010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31446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31446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965960" y="337720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65960" y="397156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965960" y="456592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37560" y="3125742"/>
            <a:ext cx="2697480" cy="1691639"/>
          </a:xfrm>
          <a:prstGeom prst="roundRect">
            <a:avLst>
              <a:gd name="adj" fmla="val 10526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7560" y="3628663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FINDING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7560" y="3948703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CVE-2024-1234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1251223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1754143"/>
            <a:ext cx="164592" cy="5029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175414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175414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9.0–10.0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09760" y="175414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Drop everything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2348503"/>
            <a:ext cx="164592" cy="5029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0" y="234850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234850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7.0–8.9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509760" y="234850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0" y="2942863"/>
            <a:ext cx="164592" cy="5029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0" y="294286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294286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4.0–6.9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09760" y="294286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83680" y="3537223"/>
            <a:ext cx="164592" cy="5029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0" y="353722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0" y="353722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0.1–3.9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09760" y="353722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0" y="4360183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6F0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66560" y="4451623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Re-rank with EPSS + KEV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66560" y="4817383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CVSS-7.5 with an EPSS of 0.85 and KEV listing outranks a CVSS-9.0 with no real-world exploitation. We surface both raw and risk-adjusted ordering.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-13311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progress, real-time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1767" y="1290577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Trigger an analysis and track each component in real time. The backend streams progress updates (POST /</a:t>
            </a:r>
            <a:r>
              <a:rPr lang="en-US" sz="1400" dirty="0" err="1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</a:t>
            </a: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/{id}/analyze/stream), while the UI displays per-component status, source-wise completion, and live finding counts as they are received.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1767" y="2890777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6087" y="275361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Per-component progress bar with live counts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1767" y="3311401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6087" y="317424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Source-by-source overlay (NVD ✓ · OSV ✓ · GHSA ✓ · VulDB …)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1767" y="3732025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6087" y="359486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Cancel mid-run cleanly — partial results retained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1767" y="4152649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6087" y="401548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Reconnects automatically if the network blips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1767" y="4573273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6087" y="443611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preflight checklist before run starts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59687" y="1290577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88287" y="1455169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Analysis  •  run #483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00167" y="1473457"/>
            <a:ext cx="105156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88287" y="1930657"/>
            <a:ext cx="4663440" cy="219456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88287" y="1930657"/>
            <a:ext cx="3077870" cy="219456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88287" y="2204977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66%   ·   142 / 215 components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8828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8828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8828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5414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5414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5414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2000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2000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22000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38586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38586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38586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88287" y="3485137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88287" y="3759457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react@18.3.1 — 0 findings (NVD, OSV, GHSA)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88287" y="4052065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lodash@4.17.20 — 1 finding (CVE-2021-23337, OSV+GHSA)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88287" y="4344673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express@4.17.1 — 2 findings (CVE-2022-24999 …)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88287" y="4637281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axios@0.21.1 — 1 finding (CVE-2021-3749, KEV)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88287" y="4929889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log4js@6.4.0 — checking…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6720" y="6862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001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5001" y="1485611"/>
            <a:ext cx="274320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881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7881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scanned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07929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07929" y="1485611"/>
            <a:ext cx="2743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90809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4,821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0809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tracked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60857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60857" y="1485611"/>
            <a:ext cx="2743200" cy="109728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43737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A62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3737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findings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13785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13785" y="1485611"/>
            <a:ext cx="2743200" cy="109728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96665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96665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 / KEV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5001" y="2902931"/>
            <a:ext cx="55778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7881" y="3040091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mix — Open findings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7881" y="35521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35161" y="3597875"/>
            <a:ext cx="405041" cy="2743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185922" y="355215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7881" y="39864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735161" y="4032215"/>
            <a:ext cx="1620162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01043" y="398649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7881" y="442083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735161" y="4466555"/>
            <a:ext cx="3383280" cy="2743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64161" y="442083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7881" y="485517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735161" y="4900895"/>
            <a:ext cx="2025203" cy="2743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806084" y="485517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7881" y="5326091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Filterable by project, time window, ecosystem, KEV-only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5721" y="2902931"/>
            <a:ext cx="55321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98601" y="304009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Vulnerabilities over time — last 8 weeks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80313" y="343328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80313" y="498776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55801" y="3543011"/>
            <a:ext cx="461772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855801" y="5097491"/>
            <a:ext cx="461772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55801" y="3543011"/>
            <a:ext cx="659674" cy="2590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515475" y="3802091"/>
            <a:ext cx="659674" cy="201507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5150" y="4003598"/>
            <a:ext cx="659674" cy="4749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34824" y="4478578"/>
            <a:ext cx="659674" cy="21590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94498" y="4694478"/>
            <a:ext cx="659674" cy="17272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154172" y="4867198"/>
            <a:ext cx="659674" cy="143933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813847" y="5011131"/>
            <a:ext cx="659674" cy="8636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791793" y="347900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451467" y="373808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111142" y="39395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770816" y="44145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430490" y="46304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090164" y="48031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749839" y="494712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1409513" y="503348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627201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286875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46550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06224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265898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925572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585247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1244921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398601" y="5371811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−25.7% open findings (W1 → W8)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-3212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Home Dashboard - Details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2104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Posture summary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2104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 change in open findings vs. the prior 7 days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93008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93008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94176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Top-priority findings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4176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Highest-exploitability vulnerabilities, KEV-listed exposures first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56248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Stats Grid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6248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· components · open findings · critical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17152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17152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breakdown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finding counts by Critical, High, Medium, and 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0936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2104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Findings trend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2104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Distinct active findings over the past 8 weeks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93008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94176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Most vulnerable SBOMs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94176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 ranked by current risk exposure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56248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5624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run status, scheduled scans, and AI fix batches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17152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217152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4183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Recent SBOMs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0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Latest uploads with validation and analysis status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0936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0936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2104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configuration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2104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Active provider, health status, and remaining budget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493008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93008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94176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94176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One-click access to Upload, Compare, Schedule, and Report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55080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55080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56248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Cumulative findings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56248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Total distinct vulnerabilities surfaced across all successful runs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17152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17152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418320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v2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18320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Hero risk + posture redesign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0936" y="5669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panels read through a single metrics layer. An architectural test blocks new direct database queries outside the layer, and twelve cross-surface invariants verify consistency across surfaces.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8970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Finding – Analysis Guidance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Remediation prose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2–4 sentences explaining the vulnerability in the context of the specific component and version found in  SBOM, plus the recommended path forward.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Upgrading lodash to 4.17.21 patches the prototype-pollution path used here…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6824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4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9704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9704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Upgrade command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9704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Copy-paste-ready command for the relevant ecosystem (npm install, pip install, Maven dep snippet…) plus rationale and breaking-change risk.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9704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6864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26864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npm install lodash@4.17.21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# Risk: low — patch-level bump, no API changes.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19872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02752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02752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Decision recommendation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02752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Should you act now? Priority (urgent / soon / scheduled / defer), confidence, reasoning, and explicit citations to OSV / GHSA / NVD / EPSS / KEV data the model used.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02752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9912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39912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Priority: URGENT  ·  Confidence: HIGH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Reason: KEV-listed, EPSS 0.91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" y="585042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finding (CVE detail dialog) or batch (whole run) — both routes use the same orchestrator.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" y="7384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AI Providers for Recommendation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9496" y="127136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providers wired in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9496" y="17742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539496" y="17742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22376" y="18200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8376" y="18200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9976" y="18200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paid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" y="22772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Shape 14"/>
          <p:cNvSpPr/>
          <p:nvPr/>
        </p:nvSpPr>
        <p:spPr>
          <a:xfrm>
            <a:off x="539496" y="22772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722376" y="23229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08376" y="23229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9976" y="23229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family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" y="278012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9"/>
          <p:cNvSpPr/>
          <p:nvPr/>
        </p:nvSpPr>
        <p:spPr>
          <a:xfrm>
            <a:off x="539496" y="278012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722376" y="282584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08376" y="28258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79976" y="28258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req/min · 1M tok/day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9496" y="328304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Shape 24"/>
          <p:cNvSpPr/>
          <p:nvPr/>
        </p:nvSpPr>
        <p:spPr>
          <a:xfrm>
            <a:off x="539496" y="328304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22376" y="332876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08376" y="332876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79976" y="332876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 · 25k tok/day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" y="378596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Shape 29"/>
          <p:cNvSpPr/>
          <p:nvPr/>
        </p:nvSpPr>
        <p:spPr>
          <a:xfrm>
            <a:off x="539496" y="378596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722376" y="383168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08376" y="383168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79976" y="383168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no cost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" y="42888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Shape 34"/>
          <p:cNvSpPr/>
          <p:nvPr/>
        </p:nvSpPr>
        <p:spPr>
          <a:xfrm>
            <a:off x="539496" y="42888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722376" y="43346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008376" y="43346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9976" y="43346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fast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" y="47918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Shape 39"/>
          <p:cNvSpPr/>
          <p:nvPr/>
        </p:nvSpPr>
        <p:spPr>
          <a:xfrm>
            <a:off x="539496" y="47918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2" name="Text 40"/>
          <p:cNvSpPr/>
          <p:nvPr/>
        </p:nvSpPr>
        <p:spPr>
          <a:xfrm>
            <a:off x="722376" y="48375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OpenAI-compat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08376" y="48375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379976" y="48375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Studio, LiteLLM, …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65976" y="1271363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6665976" y="17742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Shape 45"/>
          <p:cNvSpPr/>
          <p:nvPr/>
        </p:nvSpPr>
        <p:spPr>
          <a:xfrm>
            <a:off x="6665976" y="17742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8" name="Text 46"/>
          <p:cNvSpPr/>
          <p:nvPr/>
        </p:nvSpPr>
        <p:spPr>
          <a:xfrm>
            <a:off x="6848856" y="18200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03336" y="18200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encrypted at rest with a master key from env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65976" y="22772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Shape 49"/>
          <p:cNvSpPr/>
          <p:nvPr/>
        </p:nvSpPr>
        <p:spPr>
          <a:xfrm>
            <a:off x="6665976" y="22772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2" name="Text 50"/>
          <p:cNvSpPr/>
          <p:nvPr/>
        </p:nvSpPr>
        <p:spPr>
          <a:xfrm>
            <a:off x="6848856" y="23229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raw-key leaks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03336" y="23229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expose api_key_preview only (first 6 + last 4)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65976" y="278012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Shape 53"/>
          <p:cNvSpPr/>
          <p:nvPr/>
        </p:nvSpPr>
        <p:spPr>
          <a:xfrm>
            <a:off x="6665976" y="278012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" name="Text 54"/>
          <p:cNvSpPr/>
          <p:nvPr/>
        </p:nvSpPr>
        <p:spPr>
          <a:xfrm>
            <a:off x="6848856" y="282584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03336" y="282584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writes a redacted row in ai_credential_audit_log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65976" y="328304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Shape 57"/>
          <p:cNvSpPr/>
          <p:nvPr/>
        </p:nvSpPr>
        <p:spPr>
          <a:xfrm>
            <a:off x="6665976" y="328304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58"/>
          <p:cNvSpPr/>
          <p:nvPr/>
        </p:nvSpPr>
        <p:spPr>
          <a:xfrm>
            <a:off x="6848856" y="332876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test_connection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03336" y="332876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 gated on a successful provider probe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65976" y="378596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Shape 61"/>
          <p:cNvSpPr/>
          <p:nvPr/>
        </p:nvSpPr>
        <p:spPr>
          <a:xfrm>
            <a:off x="6665976" y="378596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4" name="Text 62"/>
          <p:cNvSpPr/>
          <p:nvPr/>
        </p:nvSpPr>
        <p:spPr>
          <a:xfrm>
            <a:off x="6848856" y="383168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03336" y="383168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blocks every AI call — instant org-wide halt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65976" y="42888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7" name="Shape 65"/>
          <p:cNvSpPr/>
          <p:nvPr/>
        </p:nvSpPr>
        <p:spPr>
          <a:xfrm>
            <a:off x="6665976" y="42888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8" name="Text 66"/>
          <p:cNvSpPr/>
          <p:nvPr/>
        </p:nvSpPr>
        <p:spPr>
          <a:xfrm>
            <a:off x="6848856" y="43346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03336" y="43346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Per-request, per-scan, per-day — enforced server-side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65976" y="47918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1" name="Shape 69"/>
          <p:cNvSpPr/>
          <p:nvPr/>
        </p:nvSpPr>
        <p:spPr>
          <a:xfrm>
            <a:off x="6665976" y="47918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2" name="Text 70"/>
          <p:cNvSpPr/>
          <p:nvPr/>
        </p:nvSpPr>
        <p:spPr>
          <a:xfrm>
            <a:off x="6848856" y="48375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projection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03336" y="48375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/runs/{id}/ai-fixes/estimate previews wall-clock + spend</a:t>
            </a:r>
            <a:endParaRPr lang="en-US" sz="1200" dirty="0"/>
          </a:p>
        </p:txBody>
      </p:sp>
      <p:sp>
        <p:nvSpPr>
          <p:cNvPr id="200" name="Shape 200"/>
          <p:cNvSpPr/>
          <p:nvPr/>
        </p:nvSpPr>
        <p:spPr>
          <a:xfrm>
            <a:off x="539496" y="529472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1" name="Shape 201"/>
          <p:cNvSpPr/>
          <p:nvPr/>
        </p:nvSpPr>
        <p:spPr>
          <a:xfrm>
            <a:off x="539496" y="529472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2" name="Text 202"/>
          <p:cNvSpPr/>
          <p:nvPr/>
        </p:nvSpPr>
        <p:spPr>
          <a:xfrm>
            <a:off x="722376" y="534044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600" dirty="0"/>
          </a:p>
        </p:txBody>
      </p:sp>
      <p:sp>
        <p:nvSpPr>
          <p:cNvPr id="203" name="Text 203"/>
          <p:cNvSpPr/>
          <p:nvPr/>
        </p:nvSpPr>
        <p:spPr>
          <a:xfrm>
            <a:off x="3008376" y="53404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204" name="Text 204"/>
          <p:cNvSpPr/>
          <p:nvPr/>
        </p:nvSpPr>
        <p:spPr>
          <a:xfrm>
            <a:off x="4379976" y="53404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7784" y="109728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comparison of SBOM Change History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94360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685800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build safer than the last one?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47288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3538728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84448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exposure did this build introduce?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0216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6391656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7376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this build fix?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53144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9244584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0304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components changed, and how?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2515294"/>
            <a:ext cx="11292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77240" y="2606734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DELTA — run #482 → run #483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→  17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6542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1752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 →  68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1426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 →  142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6310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 →  85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1194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6404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6404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→  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86078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4360" y="4069774"/>
            <a:ext cx="11292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777240" y="4161214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what changed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526974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777240" y="452697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86000" y="4526974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CVE-2024-9999  ·  axios@1.6.7  ·  HIGH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77240" y="491102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777240" y="491102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286000" y="4911022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CVE-2021-23337 ·  lodash@4.17.20→21  ·  MEDIUM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" y="529507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777240" y="529507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CHANGED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286000" y="5295070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CVE-2023-1111  ·  KEV listing added  ·  MEDIUM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Vulnerability Scan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306782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777240" y="147137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editor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77240" y="23583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77240" y="19468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19468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frontend-web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28155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777240" y="24040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31720" y="24040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 hours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2727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777240" y="28612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31720" y="28612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*/6 * * *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37299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777240" y="33184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31720" y="33184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41871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777240" y="37756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31720" y="37756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for new findings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6443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77240" y="42328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31720" y="42328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#sec-supply on critical / KEV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240" y="51015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8"/>
          <p:cNvSpPr/>
          <p:nvPr/>
        </p:nvSpPr>
        <p:spPr>
          <a:xfrm>
            <a:off x="777240" y="46900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31720" y="46900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next: 2026-05-10 18:00 UTC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130678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schedules give you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0" y="197429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4" name="Text 32"/>
          <p:cNvSpPr/>
          <p:nvPr/>
        </p:nvSpPr>
        <p:spPr>
          <a:xfrm>
            <a:off x="6537960" y="180970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75320" y="180970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new CVEs the moment NVD adds them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56865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6537960" y="240406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alerting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75320" y="240406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Slack/email when a previously-quiet finding becomes KEV-listed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316301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Text 38"/>
          <p:cNvSpPr/>
          <p:nvPr/>
        </p:nvSpPr>
        <p:spPr>
          <a:xfrm>
            <a:off x="6537960" y="299842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Auto-compare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275320" y="299842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automatically compared with the prior baseline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17920" y="375737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6537960" y="359278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275320" y="359278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cadences per project (releases vs experiments)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17920" y="435173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6" name="Text 44"/>
          <p:cNvSpPr/>
          <p:nvPr/>
        </p:nvSpPr>
        <p:spPr>
          <a:xfrm>
            <a:off x="6537960" y="418714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Pause/resume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275320" y="418714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to halt without losing history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494609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9" name="Text 47"/>
          <p:cNvSpPr/>
          <p:nvPr/>
        </p:nvSpPr>
        <p:spPr>
          <a:xfrm>
            <a:off x="6537960" y="478150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AI fixes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275320" y="478150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manual click — fixes generated for new findings only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-14468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244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5532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5532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9832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9832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cover, severity charts, top findings, remediation summary.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720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445008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45008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9308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9308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SARIF 2.1.0 — drops into GitHub code-scanning, DefectDojo.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196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824484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24484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8784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784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finding, including PURL, fixed-in version, and source list.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44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5532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5532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9832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9832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canonical payload; same shape as the API response.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720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5008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45008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9308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CI/CD-ready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9308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a REST call — /export/sarif, /export/csv, /pdf-report.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6196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824484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5B6B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24484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38784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changelog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8784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digest perfect for Confluence, Notion, or PR comments.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2440" y="4327485"/>
            <a:ext cx="11292840" cy="1188720"/>
          </a:xfrm>
          <a:prstGeom prst="roundRect">
            <a:avLst>
              <a:gd name="adj" fmla="val 7692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655320" y="4418925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Compare-run exports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55320" y="478468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can be exported as Markdown, CSV, or JSON — perfect for release sign-off packets and incident postmortems.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3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438733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02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7512" y="1731341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" y="17313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1603325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34840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41848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41848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 / Projects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48856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48856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55864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55864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Fixes UI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62872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62872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69880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69880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2517725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7512" y="2810333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" y="281033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3000" y="2682317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 + SERVICES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34840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434840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41848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41848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48856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48856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Metrics layer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55864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055864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62872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262872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generator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469880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469880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engine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02920" y="3596717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67512" y="3889325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7512" y="388932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43000" y="3761309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+ SOURCES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434840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34840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validator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641848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641848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848856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848856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· KEV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055864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055864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PURL/CPE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62872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262872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469880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469880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 resolver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02920" y="4675709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67512" y="4968317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7512" y="496831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143000" y="4840301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434840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434840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SQLite (dev) / Postgres (prod)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641848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641848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848856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848856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Soft-delete model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055864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055864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9262872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9262872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cache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469880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0469880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Snapshot tests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02920" y="5690693"/>
            <a:ext cx="11292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Adding a new vulnerability source is a one-line change in app/sources/registry.py + a new module under app/sources/.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9515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Who benefits, and how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189761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189761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28120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1829841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vulnerable component, every project, in minutes — not weeks. KEV-listed findings bubble to the top automatically.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789961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789961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Compare runs · KEV alerting · Risk pulse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1189761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189761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46520" y="128120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1829841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Know exactly which library to upgrade — with copy-paste-ready commands and breaking-change risk assessment.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46520" y="2789961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37960" y="2789961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AI upgrade command · Fixed-in version · CVE detail dialog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457473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457473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3548913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097553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On-demand audit evidence: NTIA-conformant SBOMs, signed reports, license expressions, full provenance trail.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5057673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5057673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PDF · SARIF · Audit log · License field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63640" y="3457473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63640" y="3457473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46520" y="3548913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Executives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46520" y="4097553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PDF report with severity trends, KEV exposure, posture delta vs. last quarter, and remediation progress.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46520" y="5057673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960" y="5057673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Lifetime stats · Trend chart · Posture hero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71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Features and Roadmap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Current Features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176479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keyword fallback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without a CPE now hit NVD's keywordSearch — feature-gated, noise-capped.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235915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Canonical metrics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Eight modules under app/metrics; twelve cross-surface invariants enforced by tests.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295351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validation pipeline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Closes 8 P0 / 27 P1 gaps; rejected SBOMs never reach the DB.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" y="354787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 configuration UI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 providers, AES-256-GCM at-rest, kill switch, budget caps.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414223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detail modal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4251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Merged OSV+GHSA+NVD+EPSS+KEV in-app; &lt;16 ms paint, &lt;1.2 s p95.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8680" y="473659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3000" y="4572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runs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Posture delta, new/resolved findings, components delta — exportable.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1228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6A62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12280" y="176479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8660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Version-range matching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866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Filter NVD findings by affected ranges so patched versions stop showing up.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12280" y="235915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8660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Response caching with TTL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866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Same SBOM re-scans finish in seconds, not minutes.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12280" y="295351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8660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Match-confidence score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8660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Rank keyword hits by name+version token strength for triage precision.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12280" y="354787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8660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Incremental change feed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8660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Use NVD 2.0 pubDate/modDate to ingest only new or updated CVEs.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12280" y="414223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8660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Broader PURL→CPE coverage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866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Resolvers for Alpine, Debian, RPM, Conan ecosystems.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12280" y="473659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8660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Match-reason telemetry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08660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Per-finding: cpeName / virtualMatchString / keywordSearch — surfaced in exports.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-3212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&amp; SBOM Lifecycle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2104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2104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Group related SBOMs with per-project posture and rollups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93008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93008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94176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Upload paths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4176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Drag-and-drop UI, multipart REST, or legacy JSON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56248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Validate-first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6248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upload clears the 8-stage pipeline before any DB write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17152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17152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 sync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Extracted components persisted automatically on upload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0936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2104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Re-analyze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2104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Re-run the multi-source scan on demand, any time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93008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94176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Revalidate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94176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Re-check stored SBOMs against the current rule set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56248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Soft-delete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5624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Rows are tombstoned, never hard-erased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17152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217152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4183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0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Recover deleted SBOMs, runs, and projects intact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0936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0936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2104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Cascade-safe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2104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Delete a project and its SBOMs follow predictably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493008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93008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94176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94176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create, delete, and restore logged with the actor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55080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55080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56248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Download original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56248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Retrieve the exact document that was uploaded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17152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17152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418320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18320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and analysis state visible at a glance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0936" y="5669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Projects, SBOMs, components, runs, findings, schedules and AI batches all carry a soft-delete flag; an append-only audit log records every delete and restore.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8970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Detail Intelligence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is this CVE?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Summary, title, aliases, severity and CVSS v3.1 / v4.0 — merged from OSV, GHSA and NVD into one consistent view.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CVE-2021-23337 · lodash 4.17.20 · HIGH · CVSS 7.2 · alias GHSA-35jh-r3h4-6jhm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6824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4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9704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9704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is it exploited?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9704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exploit probability and percentile, CISA KEV status with due date, CWE category, and curated reference links.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9704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6864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26864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EPSS 0.91 (98th pct) · KEV-listed · CWE-1321 · 4 references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19872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02752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02752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do I fix it?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02752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Fixed-in versions, a copy-paste upgrade command, and one-click “Generate AI remediation” for grounded guidance.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02752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9912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39912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Fixed in 4.17.21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npm install lodash@4.17.21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" y="585042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in-app modal replaces tab-hopping to NVD and GitHub. Five ID formats — CVE, GHSA, PYSEC, RUSTSEC, GO — plus batch lookup up to 50. Cached: warm open &lt;150 ms, cold &lt;1.2 s p95.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" y="7384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Security &amp; API Hardening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9496" y="127136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hardening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9496" y="17742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539496" y="17742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22376" y="18200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8376" y="18200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9976" y="18200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allowlist or HS256 JWT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" y="22772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Shape 14"/>
          <p:cNvSpPr/>
          <p:nvPr/>
        </p:nvSpPr>
        <p:spPr>
          <a:xfrm>
            <a:off x="539496" y="22772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722376" y="23229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08376" y="23229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IP+token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9976" y="23229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300/min default, 15/min on analyze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" y="278012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9"/>
          <p:cNvSpPr/>
          <p:nvPr/>
        </p:nvSpPr>
        <p:spPr>
          <a:xfrm>
            <a:off x="539496" y="278012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722376" y="282584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08376" y="28258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TTL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79976" y="28258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 makes analyze replay-safe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9496" y="328304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Shape 24"/>
          <p:cNvSpPr/>
          <p:nvPr/>
        </p:nvSpPr>
        <p:spPr>
          <a:xfrm>
            <a:off x="539496" y="328304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22376" y="332876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ETag caching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08376" y="332876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79976" y="332876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Not Modified, private Cache-Control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" y="378596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Shape 29"/>
          <p:cNvSpPr/>
          <p:nvPr/>
        </p:nvSpPr>
        <p:spPr>
          <a:xfrm>
            <a:off x="539496" y="378596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722376" y="383168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Body-size guard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08376" y="383168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79976" y="383168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MB cap enforced before any handler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" y="42888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Shape 34"/>
          <p:cNvSpPr/>
          <p:nvPr/>
        </p:nvSpPr>
        <p:spPr>
          <a:xfrm>
            <a:off x="539496" y="42888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722376" y="43346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GZip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008376" y="43346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9976" y="43346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allowlist, compressed responses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" y="47918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Shape 39"/>
          <p:cNvSpPr/>
          <p:nvPr/>
        </p:nvSpPr>
        <p:spPr>
          <a:xfrm>
            <a:off x="539496" y="47918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2" name="Text 40"/>
          <p:cNvSpPr/>
          <p:nvPr/>
        </p:nvSpPr>
        <p:spPr>
          <a:xfrm>
            <a:off x="722376" y="48375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envelope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08376" y="48375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379976" y="48375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error_code on every 4xx / 5xx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65976" y="1271363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data protection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6665976" y="17742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Shape 45"/>
          <p:cNvSpPr/>
          <p:nvPr/>
        </p:nvSpPr>
        <p:spPr>
          <a:xfrm>
            <a:off x="6665976" y="17742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8" name="Text 46"/>
          <p:cNvSpPr/>
          <p:nvPr/>
        </p:nvSpPr>
        <p:spPr>
          <a:xfrm>
            <a:off x="6848856" y="18200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03336" y="18200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API keys encrypted at rest with an env master key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65976" y="22772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Shape 49"/>
          <p:cNvSpPr/>
          <p:nvPr/>
        </p:nvSpPr>
        <p:spPr>
          <a:xfrm>
            <a:off x="6665976" y="22772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2" name="Text 50"/>
          <p:cNvSpPr/>
          <p:nvPr/>
        </p:nvSpPr>
        <p:spPr>
          <a:xfrm>
            <a:off x="6848856" y="23229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raw-key leaks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03336" y="23229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expose api_key_preview only (first 6 + last 4)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65976" y="278012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Shape 53"/>
          <p:cNvSpPr/>
          <p:nvPr/>
        </p:nvSpPr>
        <p:spPr>
          <a:xfrm>
            <a:off x="6665976" y="278012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" name="Text 54"/>
          <p:cNvSpPr/>
          <p:nvPr/>
        </p:nvSpPr>
        <p:spPr>
          <a:xfrm>
            <a:off x="6848856" y="282584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audit log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03336" y="282584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credential mutation writes a sanitised row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65976" y="328304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Shape 57"/>
          <p:cNvSpPr/>
          <p:nvPr/>
        </p:nvSpPr>
        <p:spPr>
          <a:xfrm>
            <a:off x="6665976" y="328304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58"/>
          <p:cNvSpPr/>
          <p:nvPr/>
        </p:nvSpPr>
        <p:spPr>
          <a:xfrm>
            <a:off x="6848856" y="332876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scrubbing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03336" y="332876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 / AIzaSy / xai- key patterns stripped from logs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65976" y="378596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Shape 61"/>
          <p:cNvSpPr/>
          <p:nvPr/>
        </p:nvSpPr>
        <p:spPr>
          <a:xfrm>
            <a:off x="6665976" y="378596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4" name="Text 62"/>
          <p:cNvSpPr/>
          <p:nvPr/>
        </p:nvSpPr>
        <p:spPr>
          <a:xfrm>
            <a:off x="6848856" y="383168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+ restore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03336" y="383168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Tombstone, cascade and recover — nothing hard-erased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65976" y="42888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7" name="Shape 65"/>
          <p:cNvSpPr/>
          <p:nvPr/>
        </p:nvSpPr>
        <p:spPr>
          <a:xfrm>
            <a:off x="6665976" y="42888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8" name="Text 66"/>
          <p:cNvSpPr/>
          <p:nvPr/>
        </p:nvSpPr>
        <p:spPr>
          <a:xfrm>
            <a:off x="6848856" y="43346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+ arch tests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03336" y="43346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API shapes; metric-layer queries enforced in CI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65976" y="47918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1" name="Shape 69"/>
          <p:cNvSpPr/>
          <p:nvPr/>
        </p:nvSpPr>
        <p:spPr>
          <a:xfrm>
            <a:off x="6665976" y="47918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2" name="Text 70"/>
          <p:cNvSpPr/>
          <p:nvPr/>
        </p:nvSpPr>
        <p:spPr>
          <a:xfrm>
            <a:off x="6848856" y="48375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+ budgets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03336" y="48375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halts AI; per-request / scan / day caps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Caching, Background Jobs &amp; NVD Mirror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265690"/>
            <a:ext cx="2697480" cy="640080"/>
          </a:xfrm>
          <a:prstGeom prst="rect">
            <a:avLst/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CACHE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TTL-bucketed merge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Merged OSV + GHSA + NVD + EPSS + KEV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KEV 6h · recent 24h · stable 7d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Negative cache for errors (15 min)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3552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73552" y="1265690"/>
            <a:ext cx="2697480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6432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FIX CACHE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56432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Reuse expensive work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56432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AI-fix bundles, tenant-shared cache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56432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Per-(source, component) response cache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56432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Compare results cached 24h by run pair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89904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9904" y="1265690"/>
            <a:ext cx="2697480" cy="640080"/>
          </a:xfrm>
          <a:prstGeom prst="rect">
            <a:avLst/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2784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72784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Celery beat schedule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72784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Due scans enqueued every 15 min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72784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KEV refresh 6h · EPSS + purge daily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72784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Runs offloaded to Redis workers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06256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06256" y="1265690"/>
            <a:ext cx="2697480" cy="64008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89136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89136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Local NVD copy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89136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Incremental delta sync, hourly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89136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Bypasses upstream rate limits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89136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Served from local DB, not the API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00889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E6F0F7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414605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" y="442037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Warm cache opens in &lt;150 ms p95 · cold &lt;1.2 s · 70–90% AI-fix cache hits in steady state · synchronous in dev, Redis + Celery workers in prod.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96901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Caches are keyed for cheap invalidation; background workers keep KEV, EPSS and NVD data fresh without blocking uploads.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 Regular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2322</Words>
  <Application>Microsoft Office PowerPoint</Application>
  <PresentationFormat>Widescreen</PresentationFormat>
  <Paragraphs>541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Aptos</vt:lpstr>
      <vt:lpstr>Arial</vt:lpstr>
      <vt:lpstr>Avenir Next LT Pro</vt:lpstr>
      <vt:lpstr>Calibri</vt:lpstr>
      <vt:lpstr>Courier New</vt:lpstr>
      <vt:lpstr>HCLTech Roobert</vt:lpstr>
      <vt:lpstr>HCLTech Roobert Bold</vt:lpstr>
      <vt:lpstr>HCLTech Roobert Light</vt:lpstr>
      <vt:lpstr>HCLTech Roobert SemiBold</vt:lpstr>
      <vt:lpstr>Lucida Grande</vt:lpstr>
      <vt:lpstr>Raleway</vt:lpstr>
      <vt:lpstr>System Font Regular</vt:lpstr>
      <vt:lpstr>Verdana</vt:lpstr>
      <vt:lpstr>HCLTech Theme 4.1</vt:lpstr>
      <vt:lpstr>PowerPoint Presentation</vt:lpstr>
      <vt:lpstr>SBOM Analyzer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SBOM Analyser — Full Features &amp; Workflow</dc:title>
  <dc:subject>PptxGenJS Presentation</dc:subject>
  <dc:creator>HCLTech</dc:creator>
  <cp:lastModifiedBy>Thanigaivel Vinayagam</cp:lastModifiedBy>
  <cp:revision>21</cp:revision>
  <dcterms:created xsi:type="dcterms:W3CDTF">2026-05-09T19:09:11Z</dcterms:created>
  <dcterms:modified xsi:type="dcterms:W3CDTF">2026-05-18T03:59:02Z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2026-05-14T10:07:31Z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8f67b063-ee66-4845-83e8-f8d6898fdb24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Classification: Internal</vt:lpwstr>
  </property>
  <property fmtid="{D5CDD505-2E9C-101B-9397-08002B2CF9AE}" pid="12" name="TitusGUID">
    <vt:lpwstr>bc3097d1-5977-4449-8bc0-bf1216429eaf</vt:lpwstr>
  </property>
  <property fmtid="{D5CDD505-2E9C-101B-9397-08002B2CF9AE}" pid="13" name="HCLClassD6">
    <vt:lpwstr>False</vt:lpwstr>
  </property>
  <property fmtid="{D5CDD505-2E9C-101B-9397-08002B2CF9AE}" pid="14" name="HCLClassification">
    <vt:lpwstr>HCL_Cla5s_C0nf1dent1al</vt:lpwstr>
  </property>
</Properties>
</file>