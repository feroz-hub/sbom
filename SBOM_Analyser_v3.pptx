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0" r:id="rId4"/>
    <p:sldId id="261" r:id="rId5"/>
    <p:sldId id="262" r:id="rId6"/>
    <p:sldId id="263" r:id="rId7"/>
    <p:sldId id="282" r:id="rId28"/>
    <p:sldId id="265" r:id="rId8"/>
    <p:sldId id="266" r:id="rId9"/>
    <p:sldId id="267" r:id="rId10"/>
    <p:sldId id="268" r:id="rId11"/>
    <p:sldId id="269" r:id="rId12"/>
    <p:sldId id="286" r:id="rId32"/>
    <p:sldId id="287" r:id="rId33"/>
    <p:sldId id="283" r:id="rId29"/>
    <p:sldId id="271" r:id="rId13"/>
    <p:sldId id="272" r:id="rId14"/>
    <p:sldId id="273" r:id="rId15"/>
    <p:sldId id="274" r:id="rId16"/>
    <p:sldId id="275" r:id="rId17"/>
    <p:sldId id="284" r:id="rId30"/>
    <p:sldId id="285" r:id="rId31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oze Basha S" userId="S::ferozebasha.s@hcltech.com::6a890546-8a78-45d1-9f97-ab3c014d0d10" providerId="AD" clId="Web-{FD725FB3-A79C-7012-7A3D-CCDB319F406E}"/>
    <pc:docChg chg="mod modMainMaster">
      <pc:chgData name="Feroze Basha S" userId="S::ferozebasha.s@hcltech.com::6a890546-8a78-45d1-9f97-ab3c014d0d10" providerId="AD" clId="Web-{FD725FB3-A79C-7012-7A3D-CCDB319F406E}" dt="2026-05-14T10:07:31.269" v="1" actId="33475"/>
      <pc:docMkLst>
        <pc:docMk/>
      </pc:docMkLst>
      <pc:sldMasterChg chg="addSp">
        <pc:chgData name="Feroze Basha S" userId="S::ferozebasha.s@hcltech.com::6a890546-8a78-45d1-9f97-ab3c014d0d10" providerId="AD" clId="Web-{FD725FB3-A79C-7012-7A3D-CCDB319F406E}" dt="2026-05-14T10:07:31.253" v="0" actId="33475"/>
        <pc:sldMasterMkLst>
          <pc:docMk/>
          <pc:sldMasterMk cId="0" sldId="2147483648"/>
        </pc:sldMasterMkLst>
        <pc:spChg chg="add">
          <ac:chgData name="Feroze Basha S" userId="S::ferozebasha.s@hcltech.com::6a890546-8a78-45d1-9f97-ab3c014d0d10" providerId="AD" clId="Web-{FD725FB3-A79C-7012-7A3D-CCDB319F406E}" dt="2026-05-14T10:07:31.253" v="0" actId="33475"/>
          <ac:spMkLst>
            <pc:docMk/>
            <pc:sldMasterMk cId="0" sldId="2147483648"/>
            <ac:spMk id="3" creationId="{5DFE629B-0E6E-FBE5-A6E2-52F3E0A84AD5}"/>
          </ac:spMkLst>
        </pc:spChg>
      </pc:sldMaster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E610-86D7-47C3-8845-638A077F8FBB}" type="datetimeFigureOut">
              <a:t>5/18/2026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74859-5B07-4E57-AE7F-6DD08A60B64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1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?>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71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?>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5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8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88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9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0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9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?>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1.xml"/></Relationships>
</file>

<file path=ppt/slideLayouts/_rels/slideLayout201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2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03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4.xml.rels><?xml version="1.0" encoding="UTF-8"?>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emf"/></Relationships>
</file>

<file path=ppt/slideLayouts/_rels/slideLayout20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 xml:space="preserve"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299468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0192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27977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1492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867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  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7768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3025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162558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59643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49808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198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59219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40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7692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055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5891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35941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550604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46517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601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974096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48933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423687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757157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122043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310026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84382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225553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51001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30314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526829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6066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2298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525738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3074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86279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3062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78298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8322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1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3314588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05205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1219787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82742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576889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36764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11813086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508164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215309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241933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28530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29844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2196722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483497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14482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278013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08457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86575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4528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 xml:space="preserve">Master title style </a:t>
            </a:r>
            <a:br>
              <a:rPr lang="en-US"/>
            </a:br>
            <a:r>
              <a:rPr lang="en-US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88222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572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076247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0641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6923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330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456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865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86407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84770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278779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364714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21413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232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924238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26534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83236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068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957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063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02330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783423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192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3903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93912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19087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61815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1033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97287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79694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75951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427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226724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00171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24833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378620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91203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33265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94733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56667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96920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456767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530392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3545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4294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89104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526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350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0416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53783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166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547340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38526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847503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3779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7078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3355785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45687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906179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690611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654024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3361380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39444778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 xml:space="preserve">Insert subtitle here at 20 pt and align with the title baseline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90417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727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9216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708703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949775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74480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65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326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83299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486337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  <a:p>
            <a:pPr lvl="1"/>
            <a:endParaRPr lang="en-US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30252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976408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846208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566116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868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223176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742755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71558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458617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74652874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693133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64363330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16004273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56887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339309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261986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293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52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5198290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42887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075618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3875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606523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737113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3350145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29538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6675006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416989847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8465641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725765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104365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46760134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2924718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8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 userDrawn="1"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287267088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 userDrawn="1"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 userDrawn="1"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 userDrawn="1"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 xml:space="preserve">HCLTech Roobert Bold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 userDrawn="1"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9203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BD4712-137D-1536-AE6E-5E0376C712BE}"/>
              </a:ext>
            </a:extLst>
          </p:cNvPr>
          <p:cNvSpPr txBox="1"/>
          <p:nvPr userDrawn="1"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1634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8809774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5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9E10-0871-E470-2A53-7E48C5E2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57077"/>
            <a:ext cx="11359435" cy="71959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F70C6128-105E-DAED-E266-837B75A7B90D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3000" y="6469197"/>
            <a:ext cx="1862836" cy="206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C771AE-A786-021A-F6E9-9092CBD1172B}"/>
              </a:ext>
            </a:extLst>
          </p:cNvPr>
          <p:cNvSpPr/>
          <p:nvPr userDrawn="1"/>
        </p:nvSpPr>
        <p:spPr>
          <a:xfrm>
            <a:off x="401630" y="6501062"/>
            <a:ext cx="145873" cy="1432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12176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59F80E-620D-49A1-BE04-AB53E30ABC2A}" type="slidenum">
              <a:rPr kumimoji="0" lang="it-IT" sz="931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pPr marL="0" marR="0" lvl="0" indent="0" algn="r" defTabSz="12176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98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6CC032-7FFA-8594-B58A-48EF8F1CDC4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2861" y="6511962"/>
            <a:ext cx="0" cy="121444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352ECD-C87C-F7FE-041E-E77B68D6A614}"/>
              </a:ext>
            </a:extLst>
          </p:cNvPr>
          <p:cNvSpPr>
            <a:spLocks/>
          </p:cNvSpPr>
          <p:nvPr userDrawn="1"/>
        </p:nvSpPr>
        <p:spPr>
          <a:xfrm>
            <a:off x="768976" y="6501062"/>
            <a:ext cx="3451265" cy="143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16204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1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t>Copyright © 2024 HCL Technologies Limited  |  www.hcltech.com</a:t>
            </a:r>
          </a:p>
        </p:txBody>
      </p:sp>
    </p:spTree>
    <p:extLst>
      <p:ext uri="{BB962C8B-B14F-4D97-AF65-F5344CB8AC3E}">
        <p14:creationId xmlns:p14="http://schemas.microsoft.com/office/powerpoint/2010/main" val="1089246206"/>
      </p:ext>
    </p:extLst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671" y="6465600"/>
            <a:ext cx="153888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93889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 dirty="0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 xml:space="preserve"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430210883"/>
      </p:ext>
    </p:extLst>
  </p:cSld>
  <p:clrMapOvr>
    <a:masterClrMapping/>
  </p:clrMapOvr>
  <p:hf hdr="0" ftr="0" dt="0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37063" y="289513"/>
            <a:ext cx="11655840" cy="899665"/>
          </a:xfrm>
        </p:spPr>
        <p:txBody>
          <a:bodyPr tIns="45720" bIns="45720"/>
          <a:lstStyle>
            <a:lvl1pPr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1250">
                      <a:schemeClr val="accent1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37063" y="1189178"/>
            <a:ext cx="11655078" cy="85132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980" b="0"/>
            </a:lvl4pPr>
            <a:lvl5pPr>
              <a:defRPr sz="980" b="0"/>
            </a:lvl5pPr>
          </a:lstStyle>
          <a:p>
            <a:pPr lvl="0"/>
            <a:r>
              <a:rPr lang="en-US"/>
              <a:t>Subheading text style</a:t>
            </a:r>
          </a:p>
          <a:p>
            <a:pPr lvl="1"/>
            <a:r>
              <a:rPr lang="en-US"/>
              <a:t>Paragraph title text style</a:t>
            </a:r>
          </a:p>
          <a:p>
            <a:pPr lvl="2"/>
            <a:r>
              <a:rPr lang="en-US"/>
              <a:t>Body text style</a:t>
            </a:r>
          </a:p>
        </p:txBody>
      </p:sp>
    </p:spTree>
    <p:extLst>
      <p:ext uri="{BB962C8B-B14F-4D97-AF65-F5344CB8AC3E}">
        <p14:creationId xmlns:p14="http://schemas.microsoft.com/office/powerpoint/2010/main" val="590021257"/>
      </p:ext>
    </p:extLst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2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634950"/>
            <a:ext cx="11430000" cy="350283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799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E825F5B-D4A0-A94B-EE3D-A364E454D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5EC5ED0-4308-78A9-DE42-8916115E2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609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2024 HCL Technologies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561930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056" y="174298"/>
            <a:ext cx="10985343" cy="474780"/>
          </a:xfrm>
        </p:spPr>
        <p:txBody>
          <a:bodyPr/>
          <a:lstStyle>
            <a:lvl1pPr algn="ctr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5" name="Picture 4" descr="foote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54677"/>
            <a:ext cx="12188825" cy="6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5784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533072" y="749419"/>
            <a:ext cx="11090841" cy="0"/>
          </a:xfrm>
          <a:prstGeom prst="line">
            <a:avLst/>
          </a:prstGeom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10933432" y="253778"/>
            <a:ext cx="524872" cy="337973"/>
            <a:chOff x="6258192" y="2164972"/>
            <a:chExt cx="602756" cy="388124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6857773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556747" y="2199387"/>
              <a:ext cx="301026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8479" y="2199387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268479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6258192" y="2553096"/>
              <a:ext cx="602756" cy="0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6563126" y="2164972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268479" y="2164972"/>
              <a:ext cx="297884" cy="356668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361827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981705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latin typeface="Raleway"/>
                <a:cs typeface="Raleway"/>
              </a:defRPr>
            </a:lvl1pPr>
          </a:lstStyle>
          <a:p>
            <a:r>
              <a:rPr lang="en-US" dirty="0"/>
              <a:t xml:space="preserve">	</a:t>
            </a:r>
          </a:p>
        </p:txBody>
      </p:sp>
    </p:spTree>
    <p:extLst>
      <p:ext uri="{BB962C8B-B14F-4D97-AF65-F5344CB8AC3E}">
        <p14:creationId xmlns:p14="http://schemas.microsoft.com/office/powerpoint/2010/main" val="310163427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footer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962862" y="5880846"/>
            <a:ext cx="2266277" cy="9771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5011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ed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D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94848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1067"/>
              </a:spcAft>
              <a:buFont typeface="Arial"/>
              <a:buNone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380990" indent="-380990"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2pPr>
            <a:lvl3pPr marL="988459" indent="-304792"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530312" indent="-304792"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2133547" indent="-304792">
              <a:buFont typeface="Arial"/>
              <a:buChar char="–"/>
              <a:defRPr sz="14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46888"/>
            <a:ext cx="10972800" cy="1088136"/>
          </a:xfrm>
          <a:prstGeom prst="rect">
            <a:avLst/>
          </a:prstGeom>
        </p:spPr>
        <p:txBody>
          <a:bodyPr vert="horz" anchor="b" anchorCtr="0"/>
          <a:lstStyle>
            <a:lvl1pPr algn="l">
              <a:defRPr sz="48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EB43C4-7051-7042-93B5-8C0653444BA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669345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  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2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799"/>
            </a:lvl1pPr>
          </a:lstStyle>
          <a:p>
            <a:pPr lvl="0"/>
            <a:r>
              <a:rPr lang="en-US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993156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8034" y="533547"/>
              <a:ext cx="6592804" cy="73251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B0BFB27-3717-56BA-AE00-570ACD5C35EA}"/>
              </a:ext>
            </a:extLst>
          </p:cNvPr>
          <p:cNvSpPr txBox="1"/>
          <p:nvPr userDrawn="1"/>
        </p:nvSpPr>
        <p:spPr>
          <a:xfrm>
            <a:off x="384694" y="6293109"/>
            <a:ext cx="1990288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2025 HCLTech | Confidential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1" y="2196504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ts val="4859"/>
              </a:lnSpc>
              <a:buNone/>
              <a:defRPr sz="4799" b="1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1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29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object 9">
            <a:extLst>
              <a:ext uri="{FF2B5EF4-FFF2-40B4-BE49-F238E27FC236}">
                <a16:creationId xmlns:a16="http://schemas.microsoft.com/office/drawing/2014/main" id="{C7F1927A-E700-4CFD-8DE3-DB60DAED506F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59" y="29636"/>
            <a:ext cx="7843139" cy="6828364"/>
          </a:xfrm>
          <a:prstGeom prst="rect">
            <a:avLst/>
          </a:prstGeom>
        </p:spPr>
      </p:pic>
      <p:pic>
        <p:nvPicPr>
          <p:cNvPr id="12" name="object 13">
            <a:extLst>
              <a:ext uri="{FF2B5EF4-FFF2-40B4-BE49-F238E27FC236}">
                <a16:creationId xmlns:a16="http://schemas.microsoft.com/office/drawing/2014/main" id="{E618F3CA-C97B-488D-819C-E506A6F4CA68}"/>
              </a:ext>
            </a:extLst>
          </p:cNvPr>
          <p:cNvPicPr/>
          <p:nvPr userDrawn="1"/>
        </p:nvPicPr>
        <p:blipFill rotWithShape="1">
          <a:blip r:embed="rId5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17"/>
          <a:stretch/>
        </p:blipFill>
        <p:spPr>
          <a:xfrm>
            <a:off x="10800906" y="6513156"/>
            <a:ext cx="1010095" cy="19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D4D1FADD-B427-BFFC-CEB9-AF28BDE3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21B7A43-FA1F-D7B2-A2C4-AA10C38BE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23357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41439-5BBD-7EBA-A66F-BF21FD146B16}"/>
              </a:ext>
            </a:extLst>
          </p:cNvPr>
          <p:cNvSpPr/>
          <p:nvPr userDrawn="1"/>
        </p:nvSpPr>
        <p:spPr>
          <a:xfrm>
            <a:off x="10799379" y="6164317"/>
            <a:ext cx="1229711" cy="53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5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9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10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13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14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665062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  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284204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  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/>
            </a:lvl1pPr>
          </a:lstStyle>
          <a:p>
            <a:pPr lvl="0"/>
            <a:r>
              <a:rPr lang="en-US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94254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ai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>
            <a:normAutofit/>
          </a:bodyPr>
          <a:lstStyle>
            <a:lvl1pPr>
              <a:defRPr sz="2800" b="0">
                <a:solidFill>
                  <a:srgbClr val="5F1EBE"/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7" name="Picture 7" descr="Background pattern  Description automatically generated with low confidence">
            <a:extLst>
              <a:ext uri="{FF2B5EF4-FFF2-40B4-BE49-F238E27FC236}">
                <a16:creationId xmlns:a16="http://schemas.microsoft.com/office/drawing/2014/main" id="{716945BF-81C5-4ED1-A7BA-2BD4B19627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" y="6455546"/>
            <a:ext cx="12186698" cy="40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EEC277-E503-4B68-90B0-B731CCB174B0}"/>
              </a:ext>
            </a:extLst>
          </p:cNvPr>
          <p:cNvCxnSpPr>
            <a:cxnSpLocks/>
          </p:cNvCxnSpPr>
          <p:nvPr userDrawn="1"/>
        </p:nvCxnSpPr>
        <p:spPr>
          <a:xfrm>
            <a:off x="314107" y="732916"/>
            <a:ext cx="114968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59000">
                  <a:srgbClr val="B9C8FF"/>
                </a:gs>
                <a:gs pos="24000">
                  <a:srgbClr val="FFFFFF"/>
                </a:gs>
                <a:gs pos="86000">
                  <a:schemeClr val="accent1">
                    <a:lumMod val="75000"/>
                  </a:schemeClr>
                </a:gs>
                <a:gs pos="75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3E0492-95B8-4A5C-B6EF-86C3A81792FB}"/>
              </a:ext>
            </a:extLst>
          </p:cNvPr>
          <p:cNvSpPr txBox="1"/>
          <p:nvPr userDrawn="1"/>
        </p:nvSpPr>
        <p:spPr>
          <a:xfrm>
            <a:off x="4768916" y="6677013"/>
            <a:ext cx="2633093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2024 HCLTech Technologies |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BF00BF-A9FE-4AAD-B455-BE75F5B570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24764" y="6493231"/>
            <a:ext cx="2179785" cy="3061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8460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">
            <a:extLst>
              <a:ext uri="{FF2B5EF4-FFF2-40B4-BE49-F238E27FC236}">
                <a16:creationId xmlns:a16="http://schemas.microsoft.com/office/drawing/2014/main" id="{19BAE03A-ACD6-ACAD-F6E2-CFFD48FA4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0001" y="180002"/>
            <a:ext cx="11832000" cy="6066811"/>
          </a:xfrm>
          <a:prstGeom prst="roundRect">
            <a:avLst>
              <a:gd name="adj" fmla="val 951"/>
            </a:avLst>
          </a:prstGeom>
          <a:solidFill>
            <a:srgbClr val="E6E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1A6CD62-FFFC-0821-096E-A4F49EE13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0D92A8-E134-8AC0-6468-29969454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69B7B-39A6-D2FE-D6C6-EF91801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57" y="650515"/>
            <a:ext cx="4150524" cy="24929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52478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0043160" cy="4785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634948"/>
            <a:ext cx="1004316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C3FC5F6-8482-24D8-643E-00F0994544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1104900"/>
            <a:ext cx="11430000" cy="525779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 marL="465138" indent="-2333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1200"/>
            </a:lvl2pPr>
            <a:lvl3pPr marL="687388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287663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a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FF580F-719F-8693-863B-4A74F148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04900"/>
            <a:ext cx="11430000" cy="5257800"/>
          </a:xfrm>
        </p:spPr>
        <p:txBody>
          <a:bodyPr l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37874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18812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600" b="1">
                <a:latin typeface="HCLTech Roobert" panose="020B0504030202060203" pitchFamily="34" charset="0"/>
                <a:cs typeface="HCLTech Roobert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75333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55937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145EFC-0B9A-D2FE-DCAF-2131F4C6E94D}"/>
              </a:ext>
            </a:extLst>
          </p:cNvPr>
          <p:cNvSpPr/>
          <p:nvPr userDrawn="1"/>
        </p:nvSpPr>
        <p:spPr>
          <a:xfrm>
            <a:off x="10813774" y="6182139"/>
            <a:ext cx="1133061" cy="50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028203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156415"/>
            <a:ext cx="11430000" cy="478537"/>
          </a:xfrm>
        </p:spPr>
        <p:txBody>
          <a:bodyPr>
            <a:normAutofit/>
          </a:bodyPr>
          <a:lstStyle>
            <a:lvl1pPr>
              <a:defRPr sz="2398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2" y="6463698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8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894639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310213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HCLTech Roobert Bold" pitchFamily="50" charset="0"/>
                <a:cs typeface="HCLTech Roobert Bold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4439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(Light)">
            <a:extLst>
              <a:ext uri="{FF2B5EF4-FFF2-40B4-BE49-F238E27FC236}">
                <a16:creationId xmlns:a16="http://schemas.microsoft.com/office/drawing/2014/main" id="{2C1EF16C-DFAA-560F-64B5-88D98A8E0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2523" b="1657"/>
          <a:stretch/>
        </p:blipFill>
        <p:spPr>
          <a:xfrm flipH="1">
            <a:off x="1" y="0"/>
            <a:ext cx="5861049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A994A46-8018-3B90-C0C5-313FC6325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8525" y="5100216"/>
            <a:ext cx="4520141" cy="1046440"/>
          </a:xfrm>
        </p:spPr>
        <p:txBody>
          <a:bodyPr anchor="b"/>
          <a:lstStyle>
            <a:lvl1pPr>
              <a:lnSpc>
                <a:spcPct val="84000"/>
              </a:lnSpc>
              <a:defRPr sz="7998" b="0"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1798031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B7788-226C-A65B-8EB0-D6F16CAC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1" y="6661015"/>
            <a:ext cx="535379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7200517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  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231ED559-7273-B727-F688-D84F8CE21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6D01A31-A89C-D862-1316-016C5D5F1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31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225125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eam (Layout 2)" descr="Chart  Description automatically generated">
            <a:extLst>
              <a:ext uri="{FF2B5EF4-FFF2-40B4-BE49-F238E27FC236}">
                <a16:creationId xmlns:a16="http://schemas.microsoft.com/office/drawing/2014/main" id="{8E58017F-8BF3-5B27-9856-50AFAF0F06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pic>
        <p:nvPicPr>
          <p:cNvPr id="11" name="HCLTech | Supercharged Progress">
            <a:extLst>
              <a:ext uri="{FF2B5EF4-FFF2-40B4-BE49-F238E27FC236}">
                <a16:creationId xmlns:a16="http://schemas.microsoft.com/office/drawing/2014/main" id="{79C4E2CE-653F-42B8-2EBF-DF10F11BD3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48" y="501274"/>
            <a:ext cx="3978000" cy="443439"/>
          </a:xfrm>
          <a:prstGeom prst="rect">
            <a:avLst/>
          </a:prstGeom>
        </p:spPr>
      </p:pic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 xml:space="preserve"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  <p:pic>
        <p:nvPicPr>
          <p:cNvPr id="13" name="HCL Group">
            <a:extLst>
              <a:ext uri="{FF2B5EF4-FFF2-40B4-BE49-F238E27FC236}">
                <a16:creationId xmlns:a16="http://schemas.microsoft.com/office/drawing/2014/main" id="{6965122D-EF34-1B45-815B-BEF8DD4503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704" y="6372636"/>
            <a:ext cx="1368000" cy="1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620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4186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image" Target="../media/image1.emf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95" Type="http://schemas.openxmlformats.org/officeDocument/2006/relationships/slideLayout" Target="../slideLayouts/slideLayout195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82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5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5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5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5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5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5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5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5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5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5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5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5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5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5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5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5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5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5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SUPPLY-CHAIN ASSURANCE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Intelligent Analyzer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sources  Integrated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3776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36141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136141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36141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scanning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163573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 · EPSS · KEV</a:t>
            </a:r>
            <a:endParaRPr lang="en-US" sz="1050" dirty="0"/>
          </a:p>
        </p:txBody>
      </p:sp>
      <p:sp>
        <p:nvSpPr>
          <p:cNvPr id="64" name="Title 63">
            <a:extLst>
              <a:ext uri="{FF2B5EF4-FFF2-40B4-BE49-F238E27FC236}">
                <a16:creationId xmlns:a16="http://schemas.microsoft.com/office/drawing/2014/main" id="{EB6BC61D-DE75-C5DB-CFD8-0B2C06E0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5" y="-2457"/>
            <a:ext cx="5915025" cy="6858000"/>
          </a:xfrm>
        </p:spPr>
        <p:txBody>
          <a:bodyPr anchor="ctr"/>
          <a:lstStyle/>
          <a:p>
            <a:r>
              <a:rPr lang="en-US" sz="6000" dirty="0"/>
              <a:t>SBOM Analyzer Agenda</a:t>
            </a:r>
          </a:p>
        </p:txBody>
      </p:sp>
      <p:graphicFrame>
        <p:nvGraphicFramePr>
          <p:cNvPr id="69" name="Table Placeholder 68">
            <a:extLst>
              <a:ext uri="{FF2B5EF4-FFF2-40B4-BE49-F238E27FC236}">
                <a16:creationId xmlns:a16="http://schemas.microsoft.com/office/drawing/2014/main" id="{0C25AED7-9B87-9B10-F622-39957D946A44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698059982"/>
              </p:ext>
            </p:extLst>
          </p:nvPr>
        </p:nvGraphicFramePr>
        <p:xfrm>
          <a:off x="6250832" y="900113"/>
          <a:ext cx="5636368" cy="5241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040">
                  <a:extLst>
                    <a:ext uri="{9D8B030D-6E8A-4147-A177-3AD203B41FA5}">
                      <a16:colId xmlns:a16="http://schemas.microsoft.com/office/drawing/2014/main" val="2556512347"/>
                    </a:ext>
                  </a:extLst>
                </a:gridCol>
                <a:gridCol w="4560328">
                  <a:extLst>
                    <a:ext uri="{9D8B030D-6E8A-4147-A177-3AD203B41FA5}">
                      <a16:colId xmlns:a16="http://schemas.microsoft.com/office/drawing/2014/main" val="3428225575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445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SBOM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200978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SBOM Analysis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75602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Formats &amp; 8-Stage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09623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Projects &amp; SBOM Lifecycle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92246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Multi-Source Analysis &amp; Risk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851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Progress &amp;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5646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CVE Detail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57116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Remediation &amp; Providers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178126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Comparison &amp; Scheduled Scans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0439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Reports &amp; Exports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Platform Security, API &amp; Caching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Architecture, Who Benefits &amp;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3571" y="7321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Introduction- SBOM Analyser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1028729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Analyser ingests standard SBOM files (CycloneDX, SPDX), validates them through an 8-stage pipeline, matches every component against four leading vulnerability databases in parallel, deduplicates findings, scores them with EPSS and KEV signals, and generates AI-powered remediation guidance — all from one web dashboard.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607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607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6771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 sources Integrated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6771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083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7083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9943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6247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standards supported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6247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1.4-1.6 · SPDX 2.2-2.3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6559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6559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9419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5723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stages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5723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 → signature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607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26771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providers wired in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6771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Anthropic, OpenAI, Gemini, Sarvam 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7083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7083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9943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6247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6247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SARIF · CSV · JSON · MD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6559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6559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9419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5723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Adapter-pluggable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5723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 a source in one line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-11429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Workflow - From upload to remediation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42032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2064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 UI or REST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55464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60904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25496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25496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38144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25496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68896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74336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38928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38928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51576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38928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+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82328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87768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52360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523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65008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sources in parallel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698480" y="292608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44752" y="3086100"/>
            <a:ext cx="9253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44752" y="308610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0120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765792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6579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3784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65792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+ KEV + CWE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42032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47472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2064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4712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↔ GHSA cross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55464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660904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825496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825496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438144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25496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+ risk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168896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974336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138928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13892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751576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138928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+ SSE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482328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287768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452360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45236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065008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452360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LLM remediation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60120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765792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765792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37844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65792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SARIF · CSV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171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ingestion - Formats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Three ways to ingest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19385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Drag-and-drop in the SBOM Upload modal — instant validation feedback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08760" y="2715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/api/sboms/upload (multipart) — recommended for new integrations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08760" y="34930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 (legacy JSON) — kept for one release, same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Hard limits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50 MB upload   • 200 MB decompressed   • 100:1 compression ratio cap   • gzip / deflate accepted   • p95 &lt; 500 ms on a 5 MB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 supported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Tag-Value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492240" y="474573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 3.0 (JSON-LD), CycloneDX Protobuf, and SPDX RDF/XML are deferred — rejected at ingress with a stable error code so callers can branch on it.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Eight-stage validation pipeline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Size cap, gzip-bomb defence, prototype-pollution rejection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73552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3552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02152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02152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 detect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02152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vs SPDX, JSON / XML / Tag-Value branch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89904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18504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18504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 Schema · XSD · jsonschema with depth + key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06256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06256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34856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34856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34856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 parse, license-expression, CPE plausibility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Cross-ref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 graph integrity, dangling refs, cycle detection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73552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73552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02152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02152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502152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XXE-safe XML, defusedxml, JSON depth/length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9904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9904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18504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18504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NTIA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18504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Minimum-elements check (US baseline) per component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906256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906256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34856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34856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34856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Optional cosign / DSSE signature verification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error / warning / info: { code, severity, stage, path, message, remediation, spec_reference }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Multi-source vulnerability scanning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26569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NIST National Vulnerability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cpeName + virtualMatchString lookup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Keyword fallback when no CPE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Concurrency-bounded with API-key path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126569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56432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Open-Source Vulnerabilities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Native PURL queries — no CPE needed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56432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Ecosystem coverage: npm, PyPI, Maven, Go…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Affected-version range matching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126569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GitHub Security Advisory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Token-authenticated GraphQL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First-party severity + CWE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Aliases CVE↔GHSA fed to dedupe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06256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6256" y="126569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89136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89136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 community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9136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Configurable result limit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9136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Optional details (credit-aware)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89136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Adds breadth on niche components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889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414605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ENRICHMENT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442037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exploitability probability  •  CISA KEV (Known Exploited Vulnerabilities)  •  CVSS 3.1/4.0 normalisation  •  CWE category tagging  •  PURL→CPE virtual matchstring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96901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Fan-out is concurrency-bounded by a per-process semaphore. Adding a fifth source (Snyk, OSS Index, …) is a one-line change to app/sources/registry.py.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3356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De-Duplication and Risk Rating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25122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708423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When NVD reports CVE-2024-1234 and GHSA reports GHSA-abcd-1234, our two-pass deduplication process identifies them as the same issue and combines them into a single finding, while retaining all source references for traceability.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2574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1257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CVE-…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2010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7201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31446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144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65960" y="337720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65960" y="397156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65960" y="456592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37560" y="3125742"/>
            <a:ext cx="2697480" cy="1691639"/>
          </a:xfrm>
          <a:prstGeom prst="roundRect">
            <a:avLst>
              <a:gd name="adj" fmla="val 10526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3628663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FINDING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3948703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CVE-2024-1234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1251223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754143"/>
            <a:ext cx="164592" cy="5029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17541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175414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9.0–10.0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09760" y="175414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Drop everything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2348503"/>
            <a:ext cx="164592" cy="5029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23485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234850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7.0–8.9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09760" y="234850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2942863"/>
            <a:ext cx="164592" cy="5029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0" y="29428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94286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4.0–6.9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0" y="294286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0" y="3537223"/>
            <a:ext cx="164592" cy="5029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53722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0" y="353722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0.1–3.9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09760" y="353722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4360183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6F0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66560" y="4451623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Re-rank with EPSS + KEV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17383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CVSS-7.5 with an EPSS of 0.85 and KEV listing outranks a CVSS-9.0 with no real-world exploitation. We surface both raw and risk-adjusted ordering.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-13311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progress, real-time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1767" y="1290577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an analysis and track each component in real time. The backend streams progress updates (POST 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/{id}/analyze/stream), while the UI displays per-component status, source-wise completion, and live finding counts as they are received.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767" y="2890777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6087" y="275361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Per-component progress bar with live counts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1767" y="3311401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6087" y="317424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Source-by-source overlay (NVD ✓ · OSV ✓ · GHSA ✓ · VulDB …)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1767" y="3732025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6087" y="359486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Cancel mid-run cleanly — partial results retained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1767" y="4152649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6087" y="401548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Reconnects automatically if the network blips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1767" y="4573273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087" y="44361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preflight checklist before run starts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59687" y="1290577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8287" y="1455169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Analysis  •  run #483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00167" y="1473457"/>
            <a:ext cx="10515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88287" y="1930657"/>
            <a:ext cx="4663440" cy="219456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88287" y="1930657"/>
            <a:ext cx="3077870" cy="219456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88287" y="220497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66%   ·   142 / 215 components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8828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8828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8828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5414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5414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5414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2000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2000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2000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38586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38586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8586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88287" y="348513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88287" y="3759457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react@18.3.1 — 0 findings (NVD, OSV, 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88287" y="4052065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lodash@4.17.20 — 1 finding (CVE-2021-23337, OSV+GHSA)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88287" y="4344673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express@4.17.1 — 2 findings (CVE-2022-24999 …)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88287" y="4637281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axios@0.21.1 — 1 finding (CVE-2021-3749, KEV)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88287" y="4929889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log4js@6.4.0 — checking…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6862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001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5001" y="1485611"/>
            <a:ext cx="274320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881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881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scanned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07929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07929" y="1485611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0809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4,821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0809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tracked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0857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60857" y="1485611"/>
            <a:ext cx="2743200" cy="109728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43737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737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13785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13785" y="1485611"/>
            <a:ext cx="2743200" cy="109728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96665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96665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 / KEV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5001" y="2902931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881" y="3040091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mix — Open findings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881" y="35521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5161" y="3597875"/>
            <a:ext cx="405041" cy="2743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85922" y="355215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7881" y="39864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35161" y="4032215"/>
            <a:ext cx="162016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01043" y="398649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7881" y="442083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735161" y="4466555"/>
            <a:ext cx="3383280" cy="2743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64161" y="442083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7881" y="485517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35161" y="4900895"/>
            <a:ext cx="2025203" cy="2743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06084" y="485517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7881" y="5326091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Filterable by project, time window, ecosystem, KEV-only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5721" y="2902931"/>
            <a:ext cx="55321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98601" y="304009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Vulnerabilities over time — last 8 weeks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0313" y="343328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80313" y="498776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5801" y="3543011"/>
            <a:ext cx="461772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5801" y="5097491"/>
            <a:ext cx="461772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55801" y="3543011"/>
            <a:ext cx="659674" cy="2590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515475" y="3802091"/>
            <a:ext cx="659674" cy="201507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5150" y="4003598"/>
            <a:ext cx="659674" cy="4749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34824" y="4478578"/>
            <a:ext cx="659674" cy="21590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94498" y="4694478"/>
            <a:ext cx="659674" cy="17272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154172" y="4867198"/>
            <a:ext cx="659674" cy="143933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813847" y="5011131"/>
            <a:ext cx="659674" cy="8636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791793" y="347900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451467" y="37380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11142" y="39395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0816" y="44145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430490" y="46304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090164" y="48031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749839" y="494712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409513" y="50334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2720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286875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46550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06224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265898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925572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585247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124492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398601" y="5371811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−25.7% open findings (W1 → W8)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-3212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Home Dashboard - Details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summary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 change in open findings vs. the prior 7 days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93008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4176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Top-priority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Highest-exploitability vulnerabilities, KEV-listed exposures first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6248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Stats Grid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624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· components · open findings · 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17152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7152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breakdown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 counts by Critical, High, Medium, and 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Findings trend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2104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Distinct active findings over the past 8 weeks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93008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94176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Most vulnerable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94176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ranked by current risk exposure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5624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62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run status, scheduled scans, and AI fix batches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17152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217152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Latest uploads with validation and analysis status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0936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configuration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2104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Active provider, health status, and remaining budget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93008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93008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94176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94176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One-click access to Upload, Compare, Schedule, and Report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55080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56248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Cumulative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56248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distinct vulnerabilities surfaced across all successful runs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1715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17152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832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8320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Hero risk + posture redesign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0936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panels read through a single metrics layer. An architectural test blocks new direct database queries outside the layer, and twelve cross-surface invariants verify consistency across surfaces.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Finding – Analysis Guidance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Remediation prose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2–4 sentences explaining the vulnerability in the context of the specific component and version found in  SBOM, plus the recommended path forward.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Upgrading lodash to 4.17.21 patches the prototype-pollution path used here…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Upgrade command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Copy-paste-ready command for the relevant ecosystem (npm install, pip install, Maven dep snippet…) plus rationale and breaking-change risk.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# Risk: low — patch-level bump, no API changes.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recommendation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Should you act now? Priority (urgent / soon / scheduled / defer), confidence, reasoning, and explicit citations to OSV / GHSA / NVD / EPSS / KEV data the model used.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Priority: URGENT  ·  Confidence: HIGH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Reason: KEV-listed, EPSS 0.91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finding (CVE detail dialog) or batch (whole run) — both routes use the same orchestrator.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" y="7384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AI Providers for Recommendation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" y="127136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providers wired 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" y="17742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539496" y="17742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22376" y="18200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18200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18200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paid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" y="22772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539496" y="22772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22376" y="23229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08376" y="23229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3229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family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27801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539496" y="27801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22376" y="28258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08376" y="28258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79976" y="28258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 · 1M tok/day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" y="328304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Shape 24"/>
          <p:cNvSpPr/>
          <p:nvPr/>
        </p:nvSpPr>
        <p:spPr>
          <a:xfrm>
            <a:off x="539496" y="328304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22376" y="332876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08376" y="33287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79976" y="332876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 · 25k tok/day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" y="378596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39496" y="378596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22376" y="383168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08376" y="383168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79976" y="383168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cost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" y="42888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539496" y="42888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2376" y="43346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08376" y="43346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9976" y="43346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fast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" y="47918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Shape 39"/>
          <p:cNvSpPr/>
          <p:nvPr/>
        </p:nvSpPr>
        <p:spPr>
          <a:xfrm>
            <a:off x="539496" y="47918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/>
          <p:nvPr/>
        </p:nvSpPr>
        <p:spPr>
          <a:xfrm>
            <a:off x="722376" y="48375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OpenAI-compat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8376" y="48375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79976" y="48375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Studio, LiteLLM, 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5976" y="1271363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665976" y="17742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6665976" y="17742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/>
          <p:nvPr/>
        </p:nvSpPr>
        <p:spPr>
          <a:xfrm>
            <a:off x="6848856" y="18200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3336" y="18200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encrypted at rest with a master key from env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65976" y="22772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Shape 49"/>
          <p:cNvSpPr/>
          <p:nvPr/>
        </p:nvSpPr>
        <p:spPr>
          <a:xfrm>
            <a:off x="6665976" y="22772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6848856" y="23229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23229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65976" y="278012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Shape 53"/>
          <p:cNvSpPr/>
          <p:nvPr/>
        </p:nvSpPr>
        <p:spPr>
          <a:xfrm>
            <a:off x="6665976" y="278012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/>
          <p:nvPr/>
        </p:nvSpPr>
        <p:spPr>
          <a:xfrm>
            <a:off x="6848856" y="28258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03336" y="282584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writes a redacted row in ai_credential_audit_log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65976" y="328304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6665976" y="328304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/>
          <p:nvPr/>
        </p:nvSpPr>
        <p:spPr>
          <a:xfrm>
            <a:off x="6848856" y="33287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test_connection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336" y="332876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 gated on a successful provider probe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65976" y="378596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61"/>
          <p:cNvSpPr/>
          <p:nvPr/>
        </p:nvSpPr>
        <p:spPr>
          <a:xfrm>
            <a:off x="6665976" y="378596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/>
          <p:nvPr/>
        </p:nvSpPr>
        <p:spPr>
          <a:xfrm>
            <a:off x="6848856" y="383168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03336" y="38316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blocks every AI call — instant org-wide halt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65976" y="42888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Shape 65"/>
          <p:cNvSpPr/>
          <p:nvPr/>
        </p:nvSpPr>
        <p:spPr>
          <a:xfrm>
            <a:off x="6665976" y="42888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/>
          <p:nvPr/>
        </p:nvSpPr>
        <p:spPr>
          <a:xfrm>
            <a:off x="6848856" y="43346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3336" y="4334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Per-request, per-scan, per-day — enforced server-side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65976" y="47918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6665976" y="47918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/>
          <p:nvPr/>
        </p:nvSpPr>
        <p:spPr>
          <a:xfrm>
            <a:off x="6848856" y="48375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projection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03336" y="48375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/runs/{id}/ai-fixes/estimate previews wall-clock + spend</a:t>
            </a:r>
            <a:endParaRPr lang="en-US" sz="1200" dirty="0"/>
          </a:p>
        </p:txBody>
      </p:sp>
      <p:sp>
        <p:nvSpPr>
          <p:cNvPr id="200" name="Shape 200"/>
          <p:cNvSpPr/>
          <p:nvPr/>
        </p:nvSpPr>
        <p:spPr>
          <a:xfrm>
            <a:off x="539496" y="52947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1" name="Shape 201"/>
          <p:cNvSpPr/>
          <p:nvPr/>
        </p:nvSpPr>
        <p:spPr>
          <a:xfrm>
            <a:off x="539496" y="52947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2" name="Text 202"/>
          <p:cNvSpPr/>
          <p:nvPr/>
        </p:nvSpPr>
        <p:spPr>
          <a:xfrm>
            <a:off x="722376" y="53404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600" dirty="0"/>
          </a:p>
        </p:txBody>
      </p:sp>
      <p:sp>
        <p:nvSpPr>
          <p:cNvPr id="203" name="Text 203"/>
          <p:cNvSpPr/>
          <p:nvPr/>
        </p:nvSpPr>
        <p:spPr>
          <a:xfrm>
            <a:off x="3008376" y="53404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204" name="Text 204"/>
          <p:cNvSpPr/>
          <p:nvPr/>
        </p:nvSpPr>
        <p:spPr>
          <a:xfrm>
            <a:off x="4379976" y="53404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of SBOM Change History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94360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685800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build safer than the last one?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3538728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exposure did this build introduce?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0216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391656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7376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this build fix?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53144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9244584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0304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components changed, and how?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2515294"/>
            <a:ext cx="11292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77240" y="260673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 — run #482 → run #483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→  17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6542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1752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→  68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1426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 →  142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6310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 →  85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1194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6404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6404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→  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86078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" y="4069774"/>
            <a:ext cx="11292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77240" y="416121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what changed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52697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77240" y="452697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4526974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CVE-2024-9999  ·  axios@1.6.7  ·  HIGH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7240" y="491102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777240" y="491102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0" y="4911022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CVE-2021-23337 ·  lodash@4.17.20→21  ·  MEDIUM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" y="529507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777240" y="529507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CHANGED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86000" y="5295070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CVE-2023-1111  ·  KEV listing added  ·  MEDIUM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Vulnerability Scan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306782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77240" y="147137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editor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2358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77240" y="1946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1946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frontend-web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815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777240" y="2404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31720" y="2404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hours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2727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777240" y="28612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31720" y="28612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*/6 * * *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37299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77240" y="33184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31720" y="33184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1871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777240" y="37756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31720" y="37756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for new findings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44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77240" y="4232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31720" y="4232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#sec-supply on critical / KEV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5101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777240" y="4690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690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next: 2026-05-10 18:00 UTC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30678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schedules give you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0" y="19742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32"/>
          <p:cNvSpPr/>
          <p:nvPr/>
        </p:nvSpPr>
        <p:spPr>
          <a:xfrm>
            <a:off x="6537960" y="18097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75320" y="18097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new CVEs the moment NVD adds them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56865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6537960" y="240406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alerting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75320" y="240406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 when a previously-quiet finding becomes KEV-listed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316301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Text 38"/>
          <p:cNvSpPr/>
          <p:nvPr/>
        </p:nvSpPr>
        <p:spPr>
          <a:xfrm>
            <a:off x="6537960" y="299842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Auto-compare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275320" y="299842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automatically compared with the prior baseline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375737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6537960" y="359278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275320" y="359278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cadences per project (releases vs experiments)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435173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6" name="Text 44"/>
          <p:cNvSpPr/>
          <p:nvPr/>
        </p:nvSpPr>
        <p:spPr>
          <a:xfrm>
            <a:off x="6537960" y="418714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Pause/resume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275320" y="418714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to halt without losing history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49460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/>
          <p:nvPr/>
        </p:nvSpPr>
        <p:spPr>
          <a:xfrm>
            <a:off x="6537960" y="47815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AI fixes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275320" y="47815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manual click — fixes generated for new findings only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-14468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244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5532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5532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9832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9832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severity charts, top findings, remediation summary.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720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45008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45008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9308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9308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SARIF 2.1.0 — drops into GitHub code-scanning, DefectDojo.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196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824484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24484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8784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784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finding, including PURL, fixed-in version, and source list.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44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5532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5532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9832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9832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canonical payload; same shape as the API response.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720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5008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45008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9308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CI/CD-ready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308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a REST call — /export/sarif, /export/csv, /pdf-report.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6196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824484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24484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38784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changelog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8784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digest perfect for Confluence, Notion, or PR comments.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2440" y="4327485"/>
            <a:ext cx="11292840" cy="1188720"/>
          </a:xfrm>
          <a:prstGeom prst="roundRect">
            <a:avLst>
              <a:gd name="adj" fmla="val 7692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55320" y="441892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Compare-run exports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5320" y="478468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can be exported as Markdown, CSV, or JSON — perfect for release sign-off packets and incident postmortems.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438733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02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7512" y="1731341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17313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603325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41848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41848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/ Projects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48856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48856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55864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55864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Fixes UI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62872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62872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6988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6988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2517725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7512" y="2810333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" y="281033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3000" y="268231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 + SERVICES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3484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41848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41848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48856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48856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Metrics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55864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55864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62872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62872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46988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46988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engine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2920" y="3596717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67512" y="3889325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7512" y="388932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43000" y="3761309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+ SOURCES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43484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3484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641848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41848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848856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48856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· KEV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055864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055864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PURL/CPE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62872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262872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46988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46988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 resolver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02920" y="4675709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67512" y="4968317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7512" y="496831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143000" y="4840301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43484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43484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SQLite (dev) / Postgres (prod)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641848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641848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848856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848856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Soft-delete model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055864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055864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262872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262872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46988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046988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Snapshot tests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02920" y="5690693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Adding a new vulnerability source is a one-line change in app/sources/registry.py + a new module under app/sources/.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9515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Who benefits, and how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vulnerable component, every project, in minutes — not weeks. KEV-listed findings bubble to the top automatically.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Compare runs · KEV alerting · Risk pulse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46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Know exactly which library to upgrade — with copy-paste-ready commands and breaking-change risk assessment.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46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AI upgrade command · Fixed-in version · CVE detail dialog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On-demand audit evidence: NTIA-conformant SBOMs, signed reports, license expressions, full provenance trail.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PDF · SARIF · Audit log · License field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63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3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46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PDF report with severity trends, KEV exposure, posture delta vs. last quarter, and remediation progress.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Lifetime stats · Trend chart · Posture hero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71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Features and Roadmap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Current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17647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keyword fallback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without a CPE now hit NVD's keywordSearch — feature-gated, noise-capped.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235915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Canonical metrics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 modules under app/metrics; twelve cross-surface invariants enforced by tests.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295351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validation pipeline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Closes 8 P0 / 27 P1 gaps; rejected SBOMs never reach the DB.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 configuration UI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providers, AES-256-GCM at-rest, kill switch, budget caps.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414223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4251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Merged OSV+GHSA+NVD+EPSS+KEV in-app; &lt;16 ms paint, &lt;1.2 s p95.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" y="47365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300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delta, new/resolved findings, components delta — exportable.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22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12280" y="17647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8660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Version-range matching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866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 NVD findings by affected ranges so patched versions stop showing up.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12280" y="235915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8660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Response caching with TTL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866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Same SBOM re-scans finish in seconds, not minutes.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295351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8660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Match-confidence score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Rank keyword hits by name+version token strength for triage precision.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12280" y="354787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Incremental change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866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NVD 2.0 pubDate/modDate to ingest only new or updated CVEs.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12280" y="414223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8660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Broader PURL→CPE coverage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866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Resolvers for Alpine, Debian, RPM, Conan ecosystems.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12280" y="47365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866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Match-reason telemetry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0866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Per-finding: cpeName / virtualMatchString / keywordSearch — surfaced in exports.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-3212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&amp; SBOM Lifecycle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Group related SBOMs with per-project posture and rollups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93008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4176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Upload paths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Drag-and-drop UI, multipart REST, or legacy JSON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6248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Validate-first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624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upload clears the 8-stage pipeline before any DB write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17152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7152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 sync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Extracted components persisted automatically on upload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Re-analyze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2104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Re-run the multi-source scan on demand, any time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93008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94176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94176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Re-check stored SBOMs against the current rule set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5624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Soft-delete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62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Rows are tombstoned, never hard-erased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17152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217152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Recover deleted SBOMs, runs, and projects intact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0936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Cascade-safe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2104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Delete a project and its SBOMs follow predictably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93008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93008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94176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94176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create, delete, and restore logged with the actor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55080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56248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Download original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56248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Retrieve the exact document that was uploaded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1715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17152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832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8320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and analysis state visible at a glance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0936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Projects, SBOMs, components, runs, findings, schedules and AI batches all carry a soft-delete flag; an append-only audit log records every delete and restore.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Detail Intelligence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is this CVE?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Summary, title, aliases, severity and CVSS v3.1 / v4.0 — merged from OSV, GHSA and NVD into one consistent view.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CVE-2021-23337 · lodash 4.17.20 · HIGH · CVSS 7.2 · alias GHSA-35jh-r3h4-6jhm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is it exploited?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exploit probability and percentile, CISA KEV status with due date, CWE category, and curated reference links.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EPSS 0.91 (98th pct) · KEV-listed · CWE-1321 · 4 references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do I fix it?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Fixed-in versions, a copy-paste upgrade command, and one-click “Generate AI remediation” for grounded guidance.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Fixed in 4.17.21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in-app modal replaces tab-hopping to NVD and GitHub. Five ID formats — CVE, GHSA, PYSEC, RUSTSEC, GO — plus batch lookup up to 50. Cached: warm open &lt;150 ms, cold &lt;1.2 s p95.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" y="7384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Security &amp; API Hardening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" y="127136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hardening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" y="17742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539496" y="17742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22376" y="18200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18200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18200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allowlist or HS256 JWT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" y="22772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539496" y="22772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22376" y="23229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08376" y="23229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IP+token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3229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300/min default, 15/min on analyze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27801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539496" y="27801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22376" y="28258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08376" y="28258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TTL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79976" y="28258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makes analyze replay-safe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" y="328304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Shape 24"/>
          <p:cNvSpPr/>
          <p:nvPr/>
        </p:nvSpPr>
        <p:spPr>
          <a:xfrm>
            <a:off x="539496" y="328304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22376" y="332876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 caching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08376" y="33287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79976" y="332876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Not Modified, private Cache-Control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" y="378596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39496" y="378596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22376" y="383168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Body-size guard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08376" y="383168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79976" y="383168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 cap enforced before any handler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" y="42888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539496" y="42888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2376" y="43346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GZip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08376" y="43346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9976" y="43346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allowlist, compressed responses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" y="47918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Shape 39"/>
          <p:cNvSpPr/>
          <p:nvPr/>
        </p:nvSpPr>
        <p:spPr>
          <a:xfrm>
            <a:off x="539496" y="47918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/>
          <p:nvPr/>
        </p:nvSpPr>
        <p:spPr>
          <a:xfrm>
            <a:off x="722376" y="48375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envelope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8376" y="48375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79976" y="48375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error_code on every 4xx / 5xx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5976" y="1271363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data protection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665976" y="17742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6665976" y="17742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/>
          <p:nvPr/>
        </p:nvSpPr>
        <p:spPr>
          <a:xfrm>
            <a:off x="6848856" y="18200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3336" y="18200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 keys encrypted at rest with an env master key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65976" y="22772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Shape 49"/>
          <p:cNvSpPr/>
          <p:nvPr/>
        </p:nvSpPr>
        <p:spPr>
          <a:xfrm>
            <a:off x="6665976" y="22772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6848856" y="23229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23229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65976" y="278012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Shape 53"/>
          <p:cNvSpPr/>
          <p:nvPr/>
        </p:nvSpPr>
        <p:spPr>
          <a:xfrm>
            <a:off x="6665976" y="278012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/>
          <p:nvPr/>
        </p:nvSpPr>
        <p:spPr>
          <a:xfrm>
            <a:off x="6848856" y="28258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audit log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03336" y="282584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 mutation writes a sanitised row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65976" y="328304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6665976" y="328304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/>
          <p:nvPr/>
        </p:nvSpPr>
        <p:spPr>
          <a:xfrm>
            <a:off x="6848856" y="33287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scrubbing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336" y="332876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 / AIzaSy / xai- key patterns stripped from logs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65976" y="378596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61"/>
          <p:cNvSpPr/>
          <p:nvPr/>
        </p:nvSpPr>
        <p:spPr>
          <a:xfrm>
            <a:off x="6665976" y="378596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/>
          <p:nvPr/>
        </p:nvSpPr>
        <p:spPr>
          <a:xfrm>
            <a:off x="6848856" y="383168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+ restore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03336" y="38316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Tombstone, cascade and recover — nothing hard-erased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65976" y="42888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Shape 65"/>
          <p:cNvSpPr/>
          <p:nvPr/>
        </p:nvSpPr>
        <p:spPr>
          <a:xfrm>
            <a:off x="6665976" y="42888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/>
          <p:nvPr/>
        </p:nvSpPr>
        <p:spPr>
          <a:xfrm>
            <a:off x="6848856" y="43346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arch tests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3336" y="4334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API shapes; metric-layer queries enforced in CI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65976" y="47918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6665976" y="47918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/>
          <p:nvPr/>
        </p:nvSpPr>
        <p:spPr>
          <a:xfrm>
            <a:off x="6848856" y="48375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+ budgets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03336" y="48375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halts AI; per-request / scan / day caps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Caching, Background Jobs &amp; NVD Mirror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26569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TTL-bucketed merge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Merged OSV + GHSA + NVD + EPSS + KEV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KEV 6h · recent 24h · stable 7d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Negative cache for errors (15 min)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126569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FIX CACHE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56432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Reuse expensive work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AI-fix bundles, tenant-shared cache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56432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Per-(source, component) response cache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Compare results cached 24h by run pair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126569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Celery beat schedule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Due scans enqueued every 15 min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KEV refresh 6h · EPSS + purge daily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Runs offloaded to Redis workers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06256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6256" y="126569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89136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89136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Local NVD copy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9136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Incremental delta sync, hourly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9136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Bypasses upstream rate limits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89136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Served from local DB, not the API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889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414605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442037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Warm cache opens in &lt;150 ms p95 · cold &lt;1.2 s · 70–90% AI-fix cache hits in steady state · synchronous in dev, Redis + Celery workers in prod.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96901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Caches are keyed for cheap invalidation; background workers keep KEV, EPSS and NVD data fresh without blocking uploads.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6862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v4 — Predictive analytics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001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5001" y="1485611"/>
            <a:ext cx="274320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881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881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Forecast horizon (±1.96σ)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07929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07929" y="1485611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0809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&gt;99%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0809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P(≥1 CVE exploited, 30d)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0857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60857" y="1485611"/>
            <a:ext cx="2743200" cy="109728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43737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737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Findings past SLA budget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13785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13785" y="1485611"/>
            <a:ext cx="2743200" cy="109728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96665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96665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KEV — exploited in the wild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5001" y="2902931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881" y="3040091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MTTR by severity — days to remediate vs budget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881" y="35521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5161" y="3597875"/>
            <a:ext cx="427869" cy="2743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08750" y="355215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 / 7d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7881" y="39864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35161" y="4032215"/>
            <a:ext cx="998361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79242" y="398649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21 / 30d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7881" y="442083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735161" y="4466555"/>
            <a:ext cx="2091803" cy="2743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72684" y="442083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44 / 90d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7881" y="485517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35161" y="4900895"/>
            <a:ext cx="2900000" cy="2743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680881" y="4855175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61 / 180d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7881" y="5326091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SLA budgets: Critical 7d · High 30d · Medium 90d · Low 180d — countdown chips on every overdue finding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5721" y="2902931"/>
            <a:ext cx="55321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98601" y="304009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Findings forecast — observed + 14-day projection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0313" y="343328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80313" y="498776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5801" y="3543011"/>
            <a:ext cx="461772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5801" y="5097491"/>
            <a:ext cx="461772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55801" y="3543011"/>
            <a:ext cx="659674" cy="2590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515475" y="3802091"/>
            <a:ext cx="659674" cy="201507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5150" y="4003598"/>
            <a:ext cx="659674" cy="4749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34824" y="4478578"/>
            <a:ext cx="659674" cy="21590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94498" y="4694478"/>
            <a:ext cx="659674" cy="17272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154172" y="4867198"/>
            <a:ext cx="659674" cy="143933"/>
          </a:xfrm>
          <a:prstGeom prst="line">
            <a:avLst/>
          </a:prstGeom>
          <a:noFill/>
          <a:ln w="25400">
            <a:solidFill>
              <a:srgbClr val="0B3D6B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813847" y="5011131"/>
            <a:ext cx="659674" cy="86360"/>
          </a:xfrm>
          <a:prstGeom prst="line">
            <a:avLst/>
          </a:prstGeom>
          <a:noFill/>
          <a:ln w="25400">
            <a:solidFill>
              <a:srgbClr val="0B3D6B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791793" y="347900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451467" y="37380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11142" y="39395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0816" y="44145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430490" y="46304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090164" y="48031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749839" y="4947123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409513" y="5033483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2720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-20d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286875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-16d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46550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-12d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06224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-8d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265898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-4d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925572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585247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+7d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1142561" y="5170643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+14d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398601" y="5371811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Slope −3.4/day · R² 0.91 · projected zero in ≈92 days · anomaly alert at z ≥ 2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Security Copilot — Ask your dashboard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CAPABILITY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Markdown briefing generated from the live metrics snapshot: posture verdict, decision-ready insights, and a do-next list. Cached per data-state (≤6 h) — a quiet portfolio never re-bills the LLM.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6 KEV exposures need action today; 265 findings sit past SLA. Do next: upgrade pillow 8.2.0 → 8.3.2.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CAPABILITY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One-shot questions answered only from the ~2 KB metrics snapshot. Cites concrete numbers; when a question is out of scope it names the right dashboard view instead of guessing.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Q: What got worse this week? A: +12 new vs 4 resolved (net +8), driven by cyclonedx-multi-ecosystem.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SBOM contents or component inventories leave the snapshot — metrics only. Same rollout gate as AI fixes, BudgetGuard pre-flight, and every call lands on the ai_usage_log ledger.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purpose=copilot_briefing · $0.0031 · 412ms — visible on /admin/ai-usage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all 8 wired providers — Anthropic default, free-tier Gemini / Grok, self-hosted Ollama / vLLM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2322</Words>
  <Application>Microsoft Office PowerPoint</Application>
  <PresentationFormat>Widescreen</PresentationFormat>
  <Paragraphs>541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Aptos</vt:lpstr>
      <vt:lpstr>Arial</vt:lpstr>
      <vt:lpstr>Avenir Next LT Pro</vt:lpstr>
      <vt:lpstr>Calibri</vt:lpstr>
      <vt:lpstr>Courier New</vt:lpstr>
      <vt:lpstr>HCLTech Roobert</vt:lpstr>
      <vt:lpstr>HCLTech Roobert Bold</vt:lpstr>
      <vt:lpstr>HCLTech Roobert Light</vt:lpstr>
      <vt:lpstr>HCLTech Roobert SemiBold</vt:lpstr>
      <vt:lpstr>Lucida Grande</vt:lpstr>
      <vt:lpstr>Raleway</vt:lpstr>
      <vt:lpstr>System Font Regular</vt:lpstr>
      <vt:lpstr>Verdana</vt:lpstr>
      <vt:lpstr>HCLTech Theme 4.1</vt:lpstr>
      <vt:lpstr>PowerPoint Presentation</vt:lpstr>
      <vt:lpstr>SBOM Analyzer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Analyser — Full Features &amp; Workflow</dc:title>
  <dc:subject>PptxGenJS Presentation</dc:subject>
  <dc:creator>HCLTech</dc:creator>
  <cp:lastModifiedBy>Thanigaivel Vinayagam</cp:lastModifiedBy>
  <cp:revision>21</cp:revision>
  <dcterms:created xsi:type="dcterms:W3CDTF">2026-05-09T19:09:11Z</dcterms:created>
  <dcterms:modified xsi:type="dcterms:W3CDTF">2026-05-18T03:59:02Z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2026-05-14T10:07:31Z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8f67b063-ee66-4845-83e8-f8d6898fdb24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Classification: Internal</vt:lpwstr>
  </property>
  <property fmtid="{D5CDD505-2E9C-101B-9397-08002B2CF9AE}" pid="12" name="TitusGUID">
    <vt:lpwstr>bc3097d1-5977-4449-8bc0-bf1216429eaf</vt:lpwstr>
  </property>
  <property fmtid="{D5CDD505-2E9C-101B-9397-08002B2CF9AE}" pid="13" name="HCLClassD6">
    <vt:lpwstr>False</vt:lpwstr>
  </property>
  <property fmtid="{D5CDD505-2E9C-101B-9397-08002B2CF9AE}" pid="14" name="HCLClassification">
    <vt:lpwstr>HCL_Cla5s_C0nf1dent1al</vt:lpwstr>
  </property>
</Properties>
</file>