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6"/>
    <p:sldId id="266" r:id="rId17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" Target="slides/slide10.xml"/><Relationship Id="rId19" Type="http://schemas.openxmlformats.org/officeDocument/2006/relationships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 findings</c:v>
                </c:pt>
              </c:strCache>
            </c:strRef>
          </c:tx>
          <c:spPr>
            <a:solidFill>
              <a:srgbClr val="0075C9"/>
            </a:solidFill>
            <a:ln w="38100" cap="flat">
              <a:solidFill>
                <a:srgbClr val="0075C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75C9"/>
              </a:solidFill>
              <a:ln w="9525" cap="flat">
                <a:solidFill>
                  <a:srgbClr val="0075C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W1</c:v>
                  </c:pt>
                  <c:pt idx="1">
                    <c:v>W2</c:v>
                  </c:pt>
                  <c:pt idx="2">
                    <c:v>W3</c:v>
                  </c:pt>
                  <c:pt idx="3">
                    <c:v>W4</c:v>
                  </c:pt>
                  <c:pt idx="4">
                    <c:v>W5</c:v>
                  </c:pt>
                  <c:pt idx="5">
                    <c:v>W6</c:v>
                  </c:pt>
                  <c:pt idx="6">
                    <c:v>W7</c:v>
                  </c:pt>
                  <c:pt idx="7">
                    <c:v>W8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420</c:v>
                </c:pt>
                <c:pt idx="1">
                  <c:v>402</c:v>
                </c:pt>
                <c:pt idx="2">
                  <c:v>388</c:v>
                </c:pt>
                <c:pt idx="3">
                  <c:v>355</c:v>
                </c:pt>
                <c:pt idx="4">
                  <c:v>340</c:v>
                </c:pt>
                <c:pt idx="5">
                  <c:v>328</c:v>
                </c:pt>
                <c:pt idx="6">
                  <c:v>318</c:v>
                </c:pt>
                <c:pt idx="7">
                  <c:v>312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E1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Severity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3935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0075C9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00B5E2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Critical</c:v>
                </c:pt>
                <c:pt idx="1">
                  <c:v>High</c:v>
                </c:pt>
                <c:pt idx="2">
                  <c:v>Medium</c:v>
                </c:pt>
                <c:pt idx="3">
                  <c:v>Low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17</c:v>
                </c:pt>
                <c:pt idx="1">
                  <c:v>68</c:v>
                </c:pt>
                <c:pt idx="2">
                  <c:v>142</c:v>
                </c:pt>
                <c:pt idx="3">
                  <c:v>85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22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 |  SUPPLY-CHAIN ASSURANCE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31089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640080" y="4297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what's inside your software — and what's at risk.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772400" y="1828800"/>
            <a:ext cx="4114800" cy="4114800"/>
          </a:xfrm>
          <a:prstGeom prst="ellipse">
            <a:avLst/>
          </a:prstGeom>
          <a:solidFill>
            <a:srgbClr val="001E3C">
              <a:alpha val="0"/>
            </a:srgbClr>
          </a:solidFill>
          <a:ln w="15240">
            <a:solidFill>
              <a:srgbClr val="00B5E2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09560" y="1965960"/>
            <a:ext cx="3840480" cy="3840480"/>
          </a:xfrm>
          <a:prstGeom prst="ellipse">
            <a:avLst/>
          </a:prstGeom>
          <a:solidFill>
            <a:srgbClr val="001E3C">
              <a:alpha val="0"/>
            </a:srgbClr>
          </a:solidFill>
          <a:ln w="15240">
            <a:solidFill>
              <a:srgbClr val="00B5E2">
                <a:alpha val="3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0" y="2103120"/>
            <a:ext cx="3566160" cy="3566160"/>
          </a:xfrm>
          <a:prstGeom prst="ellipse">
            <a:avLst/>
          </a:prstGeom>
          <a:solidFill>
            <a:srgbClr val="001E3C">
              <a:alpha val="0"/>
            </a:srgbClr>
          </a:solidFill>
          <a:ln w="15240">
            <a:solidFill>
              <a:srgbClr val="00B5E2">
                <a:alpha val="2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83880" y="2240280"/>
            <a:ext cx="3291840" cy="3291840"/>
          </a:xfrm>
          <a:prstGeom prst="ellipse">
            <a:avLst/>
          </a:prstGeom>
          <a:solidFill>
            <a:srgbClr val="001E3C">
              <a:alpha val="0"/>
            </a:srgbClr>
          </a:solidFill>
          <a:ln w="15240">
            <a:solidFill>
              <a:srgbClr val="00B5E2">
                <a:alpha val="1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5204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412480" y="3931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6126480"/>
            <a:ext cx="5486400" cy="0"/>
          </a:xfrm>
          <a:prstGeom prst="line">
            <a:avLst/>
          </a:prstGeom>
          <a:noFill/>
          <a:ln w="12700">
            <a:solidFill>
              <a:srgbClr val="00B5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HCLTech  •  For all audiences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an SBOM?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55778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194560"/>
            <a:ext cx="109728" cy="393192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3774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it as an ingredient label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2926080"/>
            <a:ext cx="51206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of modern software is built from hundreds of smaller parts — open-source libraries, frameworks, and tools. A Software Bill of Materials (SBOM) is simply a list of those parts, along with their versions and origins.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4754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7744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4B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50474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77440" y="5047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4B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18.3.1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" y="53400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77440" y="53400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4B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registry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56327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77440" y="56327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4B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09360" y="2194560"/>
            <a:ext cx="5394960" cy="1828800"/>
          </a:xfrm>
          <a:prstGeom prst="rect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23317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sentence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37960" y="26974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SBOM is a machine-readable inventory of every software component your application depends on.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09360" y="4206240"/>
            <a:ext cx="53949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0" y="434340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07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70–90%</a:t>
            </a:r>
            <a:endParaRPr lang="en-US" sz="7200" dirty="0"/>
          </a:p>
        </p:txBody>
      </p:sp>
      <p:sp>
        <p:nvSpPr>
          <p:cNvPr id="23" name="Text 21"/>
          <p:cNvSpPr/>
          <p:nvPr/>
        </p:nvSpPr>
        <p:spPr>
          <a:xfrm>
            <a:off x="6537960" y="54406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typical application is open-source code your team did not write. An SBOM makes that invisible majority visible.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vulnerability is discovered in a popular library, every application that uses it is suddenly at risk. Without an SBOM, you can't answer the most basic question: "Are we affected?"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3657600" cy="31089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3017520"/>
            <a:ext cx="3657600" cy="13716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383280"/>
            <a:ext cx="640080" cy="640080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554480" y="3429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risk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flaws like Log4Shell live deep in dependency trees. Manual inventories miss them.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89120" y="3017520"/>
            <a:ext cx="3657600" cy="31089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3017520"/>
            <a:ext cx="3657600" cy="1371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09160" y="3383280"/>
            <a:ext cx="640080" cy="6400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486400" y="3429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pressure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0916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Regulators and customers increasingly require an SBOM for every software release.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321040" y="3017520"/>
            <a:ext cx="3657600" cy="31089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321040" y="3017520"/>
            <a:ext cx="3657600" cy="137160"/>
          </a:xfrm>
          <a:prstGeom prst="rect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41080" y="3383280"/>
            <a:ext cx="640080" cy="64008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41080" y="33832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418320" y="342900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response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641080" y="429768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zero-days hit, teams spend days tracing impact across projects instead of patching.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 SBOM Analyser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6583680" cy="393192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94560"/>
            <a:ext cx="6583680" cy="13716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468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platform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83464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place to upload, scan and track every SBOM in your organization.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" y="4297680"/>
            <a:ext cx="5943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ingests standard SBOM files (CycloneDX, SPDX), matches every component against three leading vulnerability databases in parallel, and gives you a clear, prioritized view of your software risk — all through a web dashboard.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9480" y="2194560"/>
            <a:ext cx="44348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269480" y="2194560"/>
            <a:ext cx="91440" cy="118872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0" y="23317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8686800" y="23774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fused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0" y="2944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 • OSV • GitHub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269480" y="3520440"/>
            <a:ext cx="44348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269480" y="3520440"/>
            <a:ext cx="91440" cy="118872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0" y="365760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8686800" y="370332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formats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686800" y="42702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CycloneDX • SPDX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269480" y="4846320"/>
            <a:ext cx="44348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69480" y="4846320"/>
            <a:ext cx="91440" cy="118872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498348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8686800" y="50292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formats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reporting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686800" y="55961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• CSV • SARIF • JSON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05740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37744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scanning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NVD, OSV and GitHub Advisory data in parallel for the most complete coverage.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205740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205740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237744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9496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deduplication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72000" y="320040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Recognizes when two databases describe the same vulnerability and shows it once.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205740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205740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0" y="237744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3544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progress streaming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412480" y="320040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analysis happen in real time with per-component progress updates.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13766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13766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445770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4577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45034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trends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31520" y="528066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severity breakdowns, active projects and risk over time at a glance.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97680" y="413766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97680" y="413766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0" y="445770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0" y="44577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94960" y="45034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reports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4572000" y="528066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PDF for executives, SARIF for security tools, CSV for spreadsheets.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138160" y="413766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38160" y="413766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0" y="445770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12480" y="44577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235440" y="45034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comparison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8412480" y="528066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two scans side-by-side to measure progress after remediation.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FOUR SIMPLE STEPS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2514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6060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0B5E2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685800" y="39319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85800" y="4434840"/>
            <a:ext cx="731520" cy="0"/>
          </a:xfrm>
          <a:prstGeom prst="line">
            <a:avLst/>
          </a:prstGeom>
          <a:noFill/>
          <a:ln w="31750">
            <a:solidFill>
              <a:srgbClr val="00B5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57200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your CycloneDX or SPDX file via the web UI or API.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 rot="5400000">
            <a:off x="3017520" y="3785616"/>
            <a:ext cx="274320" cy="274320"/>
          </a:xfrm>
          <a:prstGeom prst="rtTriangl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37560" y="2468880"/>
            <a:ext cx="2514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520440" y="26060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0B5E2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0" dirty="0"/>
          </a:p>
        </p:txBody>
      </p:sp>
      <p:sp>
        <p:nvSpPr>
          <p:cNvPr id="14" name="Text 12"/>
          <p:cNvSpPr/>
          <p:nvPr/>
        </p:nvSpPr>
        <p:spPr>
          <a:xfrm>
            <a:off x="3566160" y="39319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3566160" y="4434840"/>
            <a:ext cx="731520" cy="0"/>
          </a:xfrm>
          <a:prstGeom prst="line">
            <a:avLst/>
          </a:prstGeom>
          <a:noFill/>
          <a:ln w="31750">
            <a:solidFill>
              <a:srgbClr val="00B5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457200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component, version and origin is extracted automatically.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 rot="5400000">
            <a:off x="5897880" y="3785616"/>
            <a:ext cx="274320" cy="274320"/>
          </a:xfrm>
          <a:prstGeom prst="rtTriangl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17920" y="2468880"/>
            <a:ext cx="2514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0" y="26060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0B5E2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0" dirty="0"/>
          </a:p>
        </p:txBody>
      </p:sp>
      <p:sp>
        <p:nvSpPr>
          <p:cNvPr id="20" name="Text 18"/>
          <p:cNvSpPr/>
          <p:nvPr/>
        </p:nvSpPr>
        <p:spPr>
          <a:xfrm>
            <a:off x="6446520" y="39319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46520" y="4434840"/>
            <a:ext cx="731520" cy="0"/>
          </a:xfrm>
          <a:prstGeom prst="line">
            <a:avLst/>
          </a:prstGeom>
          <a:noFill/>
          <a:ln w="31750">
            <a:solidFill>
              <a:srgbClr val="00B5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457200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NVD, OSV and GitHub are queried in parallel and results merged.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rot="5400000">
            <a:off x="8778240" y="3785616"/>
            <a:ext cx="274320" cy="274320"/>
          </a:xfrm>
          <a:prstGeom prst="rtTriangl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098280" y="2468880"/>
            <a:ext cx="2514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281160" y="260604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0B5E2">
                    <a:alpha val="3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0" dirty="0"/>
          </a:p>
        </p:txBody>
      </p:sp>
      <p:sp>
        <p:nvSpPr>
          <p:cNvPr id="26" name="Text 24"/>
          <p:cNvSpPr/>
          <p:nvPr/>
        </p:nvSpPr>
        <p:spPr>
          <a:xfrm>
            <a:off x="9326880" y="393192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9326880" y="4434840"/>
            <a:ext cx="731520" cy="0"/>
          </a:xfrm>
          <a:prstGeom prst="line">
            <a:avLst/>
          </a:prstGeom>
          <a:noFill/>
          <a:ln w="31750">
            <a:solidFill>
              <a:srgbClr val="00B5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0" y="457200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findings in the dashboard or export PDF / CSV / SARIF.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flow runs whether you scan one SBOM or thousands — results are stored, searchable, and comparable.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ACROSS THE ORGANIZATION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benefits, and how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4754880" cy="393192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33172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risk profile after first scan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5852160"/>
            <a:ext cx="4389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5440680"/>
            <a:ext cx="685800" cy="41148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50749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5897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874520" y="4549140"/>
            <a:ext cx="685800" cy="13030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37360" y="418338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91640" y="5897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314700"/>
            <a:ext cx="685800" cy="2537460"/>
          </a:xfrm>
          <a:prstGeom prst="rect">
            <a:avLst/>
          </a:prstGeom>
          <a:solidFill>
            <a:srgbClr val="0075C9"/>
          </a:solidFill>
          <a:ln w="12700">
            <a:solidFill>
              <a:srgbClr val="0075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88920" y="294894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743200" y="5897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977640" y="4103370"/>
            <a:ext cx="685800" cy="174879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373761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94760" y="58978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6217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a single SBOM typically surfaces hundreds of findings.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0" y="2194560"/>
            <a:ext cx="6217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0" y="2194560"/>
            <a:ext cx="91440" cy="86868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15000" y="230428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teams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715000" y="26060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every vulnerable component across every project in minutes — not weeks.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0" y="3200400"/>
            <a:ext cx="6217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0" y="3200400"/>
            <a:ext cx="91440" cy="86868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15000" y="33101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715000" y="3611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exactly which library to upgrade, with links to fixes and advisories.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0" y="4206240"/>
            <a:ext cx="6217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0" y="4206240"/>
            <a:ext cx="91440" cy="86868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15000" y="431596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&amp; legal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15000" y="461772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on-demand evidence for audits, customers, and regulators.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0" y="5212080"/>
            <a:ext cx="6217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0" y="5212080"/>
            <a:ext cx="91440" cy="86868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15000" y="532180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715000" y="56235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PDF report with severity trends, open risks and remediation progress.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AT-A-GLANCE VISIBILITY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reporting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7772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103120"/>
            <a:ext cx="7772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2203704"/>
            <a:ext cx="164592" cy="164592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" y="2203704"/>
            <a:ext cx="164592" cy="1645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6696" y="2203704"/>
            <a:ext cx="164592" cy="164592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21762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—  Dashboard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2651760"/>
            <a:ext cx="1737360" cy="1051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651760"/>
            <a:ext cx="1737360" cy="73152"/>
          </a:xfrm>
          <a:prstGeom prst="rect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27889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77240" y="3337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scanned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560320" y="2651760"/>
            <a:ext cx="1737360" cy="1051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60320" y="2651760"/>
            <a:ext cx="1737360" cy="73152"/>
          </a:xfrm>
          <a:prstGeom prst="rect">
            <a:avLst/>
          </a:prstGeom>
          <a:solidFill>
            <a:srgbClr val="0075C9"/>
          </a:solidFill>
          <a:ln w="12700">
            <a:solidFill>
              <a:srgbClr val="0075C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75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4,821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2651760" y="3337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tracked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34840" y="2651760"/>
            <a:ext cx="1737360" cy="1051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34840" y="2651760"/>
            <a:ext cx="173736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26280" y="27889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312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526280" y="3337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findings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09360" y="2651760"/>
            <a:ext cx="1737360" cy="105156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1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2651760"/>
            <a:ext cx="1737360" cy="73152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27889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39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6400800" y="3337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8580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Vulnerabilities over time</a:t>
            </a:r>
            <a:endParaRPr lang="en-US" sz="110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85800" y="4206240"/>
          <a:ext cx="466344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Text 27"/>
          <p:cNvSpPr/>
          <p:nvPr/>
        </p:nvSpPr>
        <p:spPr>
          <a:xfrm>
            <a:off x="5577840" y="3886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mix</a:t>
            </a:r>
            <a:endParaRPr lang="en-US" sz="1100" dirty="0"/>
          </a:p>
        </p:txBody>
      </p:sp>
      <p:graphicFrame>
        <p:nvGraphicFramePr>
          <p:cNvPr id="31" name="Chart 1" descr=""/>
          <p:cNvGraphicFramePr/>
          <p:nvPr/>
        </p:nvGraphicFramePr>
        <p:xfrm>
          <a:off x="5486400" y="4160520"/>
          <a:ext cx="2651760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2" name="Shape 28"/>
          <p:cNvSpPr/>
          <p:nvPr/>
        </p:nvSpPr>
        <p:spPr>
          <a:xfrm>
            <a:off x="8503920" y="2103120"/>
            <a:ext cx="3200400" cy="4206240"/>
          </a:xfrm>
          <a:prstGeom prst="rect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503920" y="2103120"/>
            <a:ext cx="320040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778240" y="24231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ANYTHING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8778240" y="28346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run.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reports.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8778240" y="4206240"/>
            <a:ext cx="2651760" cy="4114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8869680" y="4251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9784080" y="427939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8778240" y="4709160"/>
            <a:ext cx="2651760" cy="4114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8869680" y="475488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SARIF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9784080" y="47823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tools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8778240" y="5212080"/>
            <a:ext cx="2651760" cy="4114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8869680" y="5257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1200" dirty="0"/>
          </a:p>
        </p:txBody>
      </p:sp>
      <p:sp>
        <p:nvSpPr>
          <p:cNvPr id="44" name="Text 40"/>
          <p:cNvSpPr/>
          <p:nvPr/>
        </p:nvSpPr>
        <p:spPr>
          <a:xfrm>
            <a:off x="9784080" y="528523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Spreadsheets</a:t>
            </a:r>
            <a:endParaRPr lang="en-US" sz="1000" dirty="0"/>
          </a:p>
        </p:txBody>
      </p:sp>
      <p:sp>
        <p:nvSpPr>
          <p:cNvPr id="45" name="Shape 41"/>
          <p:cNvSpPr/>
          <p:nvPr/>
        </p:nvSpPr>
        <p:spPr>
          <a:xfrm>
            <a:off x="8778240" y="5715000"/>
            <a:ext cx="2651760" cy="4114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8869680" y="57607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200" dirty="0"/>
          </a:p>
        </p:txBody>
      </p:sp>
      <p:sp>
        <p:nvSpPr>
          <p:cNvPr id="47" name="Text 43"/>
          <p:cNvSpPr/>
          <p:nvPr/>
        </p:nvSpPr>
        <p:spPr>
          <a:xfrm>
            <a:off x="9784080" y="578815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50" name="Text 46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572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20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SUMMARY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148840"/>
            <a:ext cx="10972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visibility.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response.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software.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685800" y="4956048"/>
            <a:ext cx="137160" cy="137160"/>
          </a:xfrm>
          <a:prstGeom prst="ellipse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for every SBOM in your organization.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5340096"/>
            <a:ext cx="137160" cy="137160"/>
          </a:xfrm>
          <a:prstGeom prst="ellipse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52303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vulnerability databases, scanned in parallel.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5724144"/>
            <a:ext cx="137160" cy="137160"/>
          </a:xfrm>
          <a:prstGeom prst="ellipse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561441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that speak to developers, auditors and executives.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6217920"/>
            <a:ext cx="3657600" cy="0"/>
          </a:xfrm>
          <a:prstGeom prst="rect">
            <a:avLst/>
          </a:prstGeom>
          <a:noFill/>
          <a:ln w="19050">
            <a:solidFill>
              <a:srgbClr val="00B5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6263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IMPLEMENTATION UPDATE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 keyword-search fallback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05740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37744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SPDX and PURL-less SBOMs returned zero NVD findings because the engine required a CPE to query.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205740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205740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237744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9496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72000" y="320040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without a CPE (or a PURL that maps to one) caused NVD to be skipped entirely across three code paths.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205740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205740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0" y="237744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3544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412480" y="320040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nvd_query_by_keyword; CPE-less components now fall through to NVD's keywordSearch — mirroring the standalone script.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13766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13766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445770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4577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45034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Two-phase fan-out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31520" y="528066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CPE components use cpeName + virtualMatchString; CPE-less components use keywordSearch. Both share the concurrency semaphore.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97680" y="413766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97680" y="413766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0" y="445770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0" y="44577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94960" y="45034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4572000" y="528066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of 12 existing NVD + adapter tests pass. Mocked SBOM: 0 findings before → N findings after, one per CPE-less component.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138160" y="413766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38160" y="413766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0" y="445770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12480" y="44577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235440" y="45034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+ configurable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8412480" y="528066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CPE path is untouched. Feature-gated by NVD_KEYWORD_FALLBACK_ENABLED; noise capped by NVD_KEYWORD_RESULTS_LIMIT (default 5).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4B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pPr indent="0" marL="0">
              <a:buNone/>
            </a:pPr>
            <a:r>
              <a:rPr lang="en-US" sz="1800" b="1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B5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ENHANCEMENT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 next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05740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37744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Version-range matching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NVD findings by affected-version ranges from CPE configurations so patched versions stop showing up as vulnerable.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205740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205740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0" y="237744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9496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caching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572000" y="320040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NVD, OSV and GHSA responses with TTL; same SBOM re-scans finish in seconds, not minutes.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205740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205740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0" y="237744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35440" y="242316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Match-confidence score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412480" y="320040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keyword hits by name + version token strength so analysts can triage high-precision results first.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13766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413766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445770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4577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45034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change feed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731520" y="528066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NVD 2.0's pubDate / modDate filters to ingest only new or updated CVEs between runs.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297680" y="413766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97680" y="413766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0" y="445770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0" y="44577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394960" y="45034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PURL → CPE coverage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4572000" y="528066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resolvers for Alpine, Debian, RPM and Conan ecosystems so fewer components need the keyword fallback.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138160" y="4137660"/>
            <a:ext cx="3566160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C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8138160" y="4137660"/>
            <a:ext cx="3566160" cy="109728"/>
          </a:xfrm>
          <a:prstGeom prst="rect">
            <a:avLst/>
          </a:prstGeom>
          <a:solidFill>
            <a:srgbClr val="00B5E2"/>
          </a:solidFill>
          <a:ln w="12700">
            <a:solidFill>
              <a:srgbClr val="00B5E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2480" y="4457700"/>
            <a:ext cx="685800" cy="685800"/>
          </a:xfrm>
          <a:prstGeom prst="ellipse">
            <a:avLst/>
          </a:prstGeom>
          <a:solidFill>
            <a:srgbClr val="004B87"/>
          </a:solidFill>
          <a:ln w="12700">
            <a:solidFill>
              <a:srgbClr val="004B8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12480" y="44577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235440" y="4503420"/>
            <a:ext cx="2331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Match-reason telemetry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8412480" y="5280660"/>
            <a:ext cx="301752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per-finding whether it came from cpeName, virtualMatchString or keywordSearch — surfaced in exports and UI.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12700">
            <a:solidFill>
              <a:srgbClr val="D8E1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Analyser  |  HCLTech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SBOM Analyser</dc:title>
  <dc:subject>PptxGenJS Presentation</dc:subject>
  <dc:creator>HCLTech</dc:creator>
  <cp:lastModifiedBy>HCLTech</cp:lastModifiedBy>
  <cp:revision>1</cp:revision>
  <dcterms:created xsi:type="dcterms:W3CDTF">2026-04-09T18:00:43Z</dcterms:created>
  <dcterms:modified xsi:type="dcterms:W3CDTF">2026-04-09T18:00:43Z</dcterms:modified>
</cp:coreProperties>
</file>